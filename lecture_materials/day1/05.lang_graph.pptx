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embeddedFontLst>
    <p:embeddedFont>
      <p:font typeface="DM Sans SemiBold"/>
      <p:regular r:id="rId30"/>
    </p:embeddedFont>
    <p:embeddedFont>
      <p:font typeface="DM Sans Bold"/>
      <p:regular r:id="rId31"/>
    </p:embeddedFont>
    <p:embeddedFont>
      <p:font typeface="Inter Medium"/>
      <p:regular r:id="rId32"/>
    </p:embeddedFont>
    <p:embeddedFont>
      <p:font typeface="Inter Bold"/>
      <p:regular r:id="rId33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Relationship Id="rId30" Type="http://schemas.openxmlformats.org/officeDocument/2006/relationships/font" Target="fonts/font1.fntdata"/><Relationship Id="rId31" Type="http://schemas.openxmlformats.org/officeDocument/2006/relationships/font" Target="fonts/font2.fntdata"/><Relationship Id="rId32" Type="http://schemas.openxmlformats.org/officeDocument/2006/relationships/font" Target="fonts/font3.fntdata"/><Relationship Id="rId33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8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9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2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image" Target="../media/image-14-3.png"/><Relationship Id="rId4" Type="http://schemas.openxmlformats.org/officeDocument/2006/relationships/image" Target="../media/image-14-4.svg"/><Relationship Id="rId5" Type="http://schemas.openxmlformats.org/officeDocument/2006/relationships/image" Target="../media/image-14-5.png"/><Relationship Id="rId6" Type="http://schemas.openxmlformats.org/officeDocument/2006/relationships/image" Target="../media/image-14-6.svg"/><Relationship Id="rId7" Type="http://schemas.openxmlformats.org/officeDocument/2006/relationships/image" Target="../media/image-14-7.png"/><Relationship Id="rId8" Type="http://schemas.openxmlformats.org/officeDocument/2006/relationships/image" Target="../media/image-14-8.svg"/><Relationship Id="rId9" Type="http://schemas.openxmlformats.org/officeDocument/2006/relationships/image" Target="../media/image-14-9.png"/><Relationship Id="rId10" Type="http://schemas.openxmlformats.org/officeDocument/2006/relationships/image" Target="../media/image-14-10.svg"/><Relationship Id="rId11" Type="http://schemas.openxmlformats.org/officeDocument/2006/relationships/image" Target="../media/image-14-11.png"/><Relationship Id="rId12" Type="http://schemas.openxmlformats.org/officeDocument/2006/relationships/image" Target="../media/image-14-12.png"/><Relationship Id="rId13" Type="http://schemas.openxmlformats.org/officeDocument/2006/relationships/slideLayout" Target="../slideLayouts/slideLayout15.xml"/><Relationship Id="rId1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6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7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8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0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2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22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image" Target="../media/image-22-6.png"/><Relationship Id="rId7" Type="http://schemas.openxmlformats.org/officeDocument/2006/relationships/image" Target="../media/image-22-7.png"/><Relationship Id="rId8" Type="http://schemas.openxmlformats.org/officeDocument/2006/relationships/slideLayout" Target="../slideLayouts/slideLayout23.xml"/><Relationship Id="rId9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24.xml"/><Relationship Id="rId4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2294855"/>
            <a:ext cx="4887367" cy="553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34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1.Graph란 무엇인가</a:t>
            </a:r>
            <a:endParaRPr lang="ko-KR" sz="3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F2EEE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5842" y="380181"/>
            <a:ext cx="3287241" cy="43830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670173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27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Graph란 무엇인가</a:t>
            </a:r>
            <a:endParaRPr lang="ko-KR" sz="2750" dirty="0"/>
          </a:p>
        </p:txBody>
      </p:sp>
      <p:sp>
        <p:nvSpPr>
          <p:cNvPr id="5" name="Text 2"/>
          <p:cNvSpPr/>
          <p:nvPr/>
        </p:nvSpPr>
        <p:spPr>
          <a:xfrm>
            <a:off x="496119" y="1283271"/>
            <a:ext cx="4722763" cy="408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ko-KR" alt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Graph는 </a:t>
            </a:r>
            <a:pPr algn="l" indent="0" marL="0">
              <a:lnSpc>
                <a:spcPct val="120000"/>
              </a:lnSpc>
              <a:buNone/>
            </a:pPr>
            <a:r>
              <a:rPr lang="ko-KR" altLang="en-US" sz="110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조건에 따라 실행 흐름이 달라지는 구조</a:t>
            </a:r>
            <a:pPr algn="l" indent="0" marL="0">
              <a:lnSpc>
                <a:spcPct val="120000"/>
              </a:lnSpc>
              <a:buNone/>
            </a:pPr>
            <a:r>
              <a:rPr lang="ko-KR" alt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입니다. Chain은 정해진 순서대로만 진행되지만, Graph는 상황을 보고 다음 길을 선택합니다.</a:t>
            </a:r>
            <a:endParaRPr lang="ko-KR" sz="1100" dirty="0"/>
          </a:p>
        </p:txBody>
      </p:sp>
      <p:sp>
        <p:nvSpPr>
          <p:cNvPr id="6" name="Shape 3"/>
          <p:cNvSpPr/>
          <p:nvPr/>
        </p:nvSpPr>
        <p:spPr>
          <a:xfrm>
            <a:off x="394022" y="1819052"/>
            <a:ext cx="2392635" cy="1791965"/>
          </a:xfrm>
          <a:prstGeom prst="roundRect">
            <a:avLst>
              <a:gd name="adj" fmla="val 1187"/>
            </a:avLst>
          </a:prstGeom>
          <a:solidFill>
            <a:srgbClr val="4950BC"/>
          </a:solidFill>
          <a:ln/>
        </p:spPr>
      </p:sp>
      <p:sp>
        <p:nvSpPr>
          <p:cNvPr id="7" name="Text 4"/>
          <p:cNvSpPr/>
          <p:nvPr/>
        </p:nvSpPr>
        <p:spPr>
          <a:xfrm>
            <a:off x="535781" y="1932459"/>
            <a:ext cx="2229222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350" dirty="0">
                <a:solidFill>
                  <a:srgbClr val="000000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🧭</a:t>
            </a:r>
            <a:pPr algn="l" indent="0" marL="0">
              <a:lnSpc>
                <a:spcPct val="104000"/>
              </a:lnSpc>
              <a:buNone/>
            </a:pPr>
            <a:r>
              <a:rPr lang="ko-KR" altLang="en-US" sz="135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 내비게이션 비유</a:t>
            </a:r>
            <a:endParaRPr lang="ko-KR" sz="1350" dirty="0"/>
          </a:p>
        </p:txBody>
      </p:sp>
      <p:sp>
        <p:nvSpPr>
          <p:cNvPr id="8" name="Text 5"/>
          <p:cNvSpPr/>
          <p:nvPr/>
        </p:nvSpPr>
        <p:spPr>
          <a:xfrm>
            <a:off x="535781" y="2272085"/>
            <a:ext cx="2109118" cy="8164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ko-KR" altLang="en-US" sz="110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내비게이션이 길 상황에 따라 경로를 바꾸는 것처럼, Graph도 질문 상태에 따라 다음 작업을 다르게 선택합니다.</a:t>
            </a:r>
            <a:endParaRPr lang="ko-KR" sz="1100" dirty="0"/>
          </a:p>
        </p:txBody>
      </p:sp>
      <p:sp>
        <p:nvSpPr>
          <p:cNvPr id="9" name="Text 6"/>
          <p:cNvSpPr/>
          <p:nvPr/>
        </p:nvSpPr>
        <p:spPr>
          <a:xfrm>
            <a:off x="3035201" y="1932459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3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제조 장애 대응 예시</a:t>
            </a:r>
            <a:endParaRPr lang="ko-KR" sz="1350" dirty="0"/>
          </a:p>
        </p:txBody>
      </p:sp>
      <p:sp>
        <p:nvSpPr>
          <p:cNvPr id="10" name="Text 7"/>
          <p:cNvSpPr/>
          <p:nvPr/>
        </p:nvSpPr>
        <p:spPr>
          <a:xfrm>
            <a:off x="3035201" y="2267322"/>
            <a:ext cx="2188443" cy="1304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ko-KR" alt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사용자 질문에 </a:t>
            </a:r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ko-KR" altLang="en-US" sz="110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설비 ID</a:t>
            </a:r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ko-KR" alt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와 </a:t>
            </a:r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ko-KR" altLang="en-US" sz="110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알람 코드</a:t>
            </a:r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ko-KR" alt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가 있는지 먼저 확인합니다.</a:t>
            </a:r>
            <a:endParaRPr lang="ko-KR" sz="11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ko-KR" alt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정보가 </a:t>
            </a:r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ko-KR" altLang="en-US" sz="110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충분하면</a:t>
            </a:r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ko-KR" alt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→ 로그 조회로 이동합니다.</a:t>
            </a:r>
            <a:endParaRPr lang="ko-KR" sz="11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ko-KR" alt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정보가 </a:t>
            </a:r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ko-KR" altLang="en-US" sz="110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부족하면</a:t>
            </a:r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ko-KR" alt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→ 추가 질문을 요청합니다.</a:t>
            </a:r>
            <a:endParaRPr lang="ko-KR" sz="1100" dirty="0"/>
          </a:p>
        </p:txBody>
      </p:sp>
      <p:sp>
        <p:nvSpPr>
          <p:cNvPr id="11" name="Shape 8"/>
          <p:cNvSpPr/>
          <p:nvPr/>
        </p:nvSpPr>
        <p:spPr>
          <a:xfrm>
            <a:off x="496119" y="3738563"/>
            <a:ext cx="4722763" cy="734690"/>
          </a:xfrm>
          <a:prstGeom prst="roundRect">
            <a:avLst>
              <a:gd name="adj" fmla="val 2894"/>
            </a:avLst>
          </a:prstGeom>
          <a:solidFill>
            <a:srgbClr val="B6FCB8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877" y="3944094"/>
            <a:ext cx="177180" cy="14175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56816" y="3887391"/>
            <a:ext cx="4120307" cy="412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ko-KR" altLang="en-US" sz="110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📌</a:t>
            </a:r>
            <a:pPr algn="l" indent="0" marL="0">
              <a:lnSpc>
                <a:spcPct val="120000"/>
              </a:lnSpc>
              <a:buNone/>
            </a:pPr>
            <a:r>
              <a:rPr lang="ko-KR" altLang="en-US" sz="110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핵심 정리: Graph는 Agent가 상황에 맞게 길을 고르는 기본 흐름입니다.</a:t>
            </a:r>
            <a:endParaRPr lang="ko-KR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29456"/>
            <a:ext cx="3779862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26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Chain과 Graph의 차이</a:t>
            </a:r>
            <a:endParaRPr lang="ko-KR" sz="2600" dirty="0"/>
          </a:p>
        </p:txBody>
      </p:sp>
      <p:sp>
        <p:nvSpPr>
          <p:cNvPr id="3" name="Text 1"/>
          <p:cNvSpPr/>
          <p:nvPr/>
        </p:nvSpPr>
        <p:spPr>
          <a:xfrm>
            <a:off x="496119" y="1144116"/>
            <a:ext cx="8608963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ko-KR" alt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Chain과 Graph는 실행 방식에서 근본적인 차이가 있습니다. 아래 표를 통해 두 구조를 비교해 보겠습니다.</a:t>
            </a:r>
            <a:endParaRPr lang="ko-KR" sz="1000" dirty="0"/>
          </a:p>
        </p:txBody>
      </p:sp>
      <p:sp>
        <p:nvSpPr>
          <p:cNvPr id="4" name="Shape 2"/>
          <p:cNvSpPr/>
          <p:nvPr/>
        </p:nvSpPr>
        <p:spPr>
          <a:xfrm>
            <a:off x="496119" y="1442219"/>
            <a:ext cx="8151763" cy="1603921"/>
          </a:xfrm>
          <a:prstGeom prst="roundRect">
            <a:avLst>
              <a:gd name="adj" fmla="val 1243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34678" y="1511498"/>
            <a:ext cx="2902521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ko-KR" altLang="en-US" sz="100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구분</a:t>
            </a:r>
            <a:endParaRPr lang="ko-KR" sz="1000" dirty="0"/>
          </a:p>
        </p:txBody>
      </p:sp>
      <p:sp>
        <p:nvSpPr>
          <p:cNvPr id="6" name="Text 4"/>
          <p:cNvSpPr/>
          <p:nvPr/>
        </p:nvSpPr>
        <p:spPr>
          <a:xfrm>
            <a:off x="3350568" y="1511498"/>
            <a:ext cx="2900139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Chain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064076" y="1511498"/>
            <a:ext cx="2902521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Graph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34678" y="1831330"/>
            <a:ext cx="2902521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ko-KR" alt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실행 방식</a:t>
            </a:r>
            <a:endParaRPr lang="ko-KR" sz="1000" dirty="0"/>
          </a:p>
        </p:txBody>
      </p:sp>
      <p:sp>
        <p:nvSpPr>
          <p:cNvPr id="9" name="Text 7"/>
          <p:cNvSpPr/>
          <p:nvPr/>
        </p:nvSpPr>
        <p:spPr>
          <a:xfrm>
            <a:off x="3350568" y="1831330"/>
            <a:ext cx="2900139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ko-KR" alt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항상 같은 순서로 실행</a:t>
            </a:r>
            <a:endParaRPr lang="ko-KR" sz="1000" dirty="0"/>
          </a:p>
        </p:txBody>
      </p:sp>
      <p:sp>
        <p:nvSpPr>
          <p:cNvPr id="10" name="Text 8"/>
          <p:cNvSpPr/>
          <p:nvPr/>
        </p:nvSpPr>
        <p:spPr>
          <a:xfrm>
            <a:off x="6064076" y="1831330"/>
            <a:ext cx="2902521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ko-KR" alt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조건에 따라 흐름 변경</a:t>
            </a:r>
            <a:endParaRPr lang="ko-KR" sz="1000" dirty="0"/>
          </a:p>
        </p:txBody>
      </p:sp>
      <p:sp>
        <p:nvSpPr>
          <p:cNvPr id="11" name="Text 9"/>
          <p:cNvSpPr/>
          <p:nvPr/>
        </p:nvSpPr>
        <p:spPr>
          <a:xfrm>
            <a:off x="634678" y="2151162"/>
            <a:ext cx="2902521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ko-KR" alt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흐름 특징</a:t>
            </a:r>
            <a:endParaRPr lang="ko-KR" sz="1000" dirty="0"/>
          </a:p>
        </p:txBody>
      </p:sp>
      <p:sp>
        <p:nvSpPr>
          <p:cNvPr id="12" name="Text 10"/>
          <p:cNvSpPr/>
          <p:nvPr/>
        </p:nvSpPr>
        <p:spPr>
          <a:xfrm>
            <a:off x="3350568" y="2151162"/>
            <a:ext cx="2900139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ko-KR" alt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직선형 흐름</a:t>
            </a:r>
            <a:endParaRPr lang="ko-KR" sz="1000" dirty="0"/>
          </a:p>
        </p:txBody>
      </p:sp>
      <p:sp>
        <p:nvSpPr>
          <p:cNvPr id="13" name="Text 11"/>
          <p:cNvSpPr/>
          <p:nvPr/>
        </p:nvSpPr>
        <p:spPr>
          <a:xfrm>
            <a:off x="6064076" y="2151162"/>
            <a:ext cx="2902521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ko-KR" alt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갈림길이 있는 흐름</a:t>
            </a:r>
            <a:endParaRPr lang="ko-KR" sz="1000" dirty="0"/>
          </a:p>
        </p:txBody>
      </p:sp>
      <p:sp>
        <p:nvSpPr>
          <p:cNvPr id="14" name="Text 12"/>
          <p:cNvSpPr/>
          <p:nvPr/>
        </p:nvSpPr>
        <p:spPr>
          <a:xfrm>
            <a:off x="634678" y="2470993"/>
            <a:ext cx="2902521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ko-KR" alt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제조 장애 대응 예시</a:t>
            </a:r>
            <a:endParaRPr lang="ko-KR" sz="1000" dirty="0"/>
          </a:p>
        </p:txBody>
      </p:sp>
      <p:sp>
        <p:nvSpPr>
          <p:cNvPr id="15" name="Text 13"/>
          <p:cNvSpPr/>
          <p:nvPr/>
        </p:nvSpPr>
        <p:spPr>
          <a:xfrm>
            <a:off x="3350568" y="2470993"/>
            <a:ext cx="2900139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ko-KR" alt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질문 → Prompt 생성 → LLM 호출</a:t>
            </a:r>
            <a:endParaRPr lang="ko-KR" sz="1000" dirty="0"/>
          </a:p>
        </p:txBody>
      </p:sp>
      <p:sp>
        <p:nvSpPr>
          <p:cNvPr id="16" name="Text 14"/>
          <p:cNvSpPr/>
          <p:nvPr/>
        </p:nvSpPr>
        <p:spPr>
          <a:xfrm>
            <a:off x="6064076" y="2470993"/>
            <a:ext cx="2902521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ko-KR" alt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알람 코드 있음/없음에 따라 다른 처리</a:t>
            </a:r>
            <a:endParaRPr lang="ko-KR" sz="1000" dirty="0"/>
          </a:p>
        </p:txBody>
      </p:sp>
      <p:sp>
        <p:nvSpPr>
          <p:cNvPr id="17" name="Text 15"/>
          <p:cNvSpPr/>
          <p:nvPr/>
        </p:nvSpPr>
        <p:spPr>
          <a:xfrm>
            <a:off x="634678" y="2790825"/>
            <a:ext cx="2902521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ko-KR" alt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적합한 상황</a:t>
            </a:r>
            <a:endParaRPr lang="ko-KR" sz="1000" dirty="0"/>
          </a:p>
        </p:txBody>
      </p:sp>
      <p:sp>
        <p:nvSpPr>
          <p:cNvPr id="18" name="Text 16"/>
          <p:cNvSpPr/>
          <p:nvPr/>
        </p:nvSpPr>
        <p:spPr>
          <a:xfrm>
            <a:off x="3350568" y="2790825"/>
            <a:ext cx="2900139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ko-KR" alt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절차가 고정된 작업</a:t>
            </a:r>
            <a:endParaRPr lang="ko-KR" sz="1000" dirty="0"/>
          </a:p>
        </p:txBody>
      </p:sp>
      <p:sp>
        <p:nvSpPr>
          <p:cNvPr id="19" name="Text 17"/>
          <p:cNvSpPr/>
          <p:nvPr/>
        </p:nvSpPr>
        <p:spPr>
          <a:xfrm>
            <a:off x="6064076" y="2790825"/>
            <a:ext cx="2902521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ko-KR" alt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입력 상태에 따라 판단이 필요한 작업</a:t>
            </a:r>
            <a:endParaRPr lang="ko-KR" sz="1000" dirty="0"/>
          </a:p>
        </p:txBody>
      </p:sp>
      <p:sp>
        <p:nvSpPr>
          <p:cNvPr id="20" name="Text 18"/>
          <p:cNvSpPr/>
          <p:nvPr/>
        </p:nvSpPr>
        <p:spPr>
          <a:xfrm>
            <a:off x="496119" y="3257848"/>
            <a:ext cx="21184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300" dirty="0">
                <a:solidFill>
                  <a:srgbClr val="000000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🍳</a:t>
            </a:r>
            <a:pPr algn="l" indent="0" marL="0">
              <a:lnSpc>
                <a:spcPct val="104000"/>
              </a:lnSpc>
              <a:buNone/>
            </a:pPr>
            <a:r>
              <a:rPr lang="ko-KR" altLang="en-US" sz="13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 Chain = 요리 순서</a:t>
            </a:r>
            <a:endParaRPr lang="ko-KR" sz="1300" dirty="0"/>
          </a:p>
        </p:txBody>
      </p:sp>
      <p:sp>
        <p:nvSpPr>
          <p:cNvPr id="21" name="Text 19"/>
          <p:cNvSpPr/>
          <p:nvPr/>
        </p:nvSpPr>
        <p:spPr>
          <a:xfrm>
            <a:off x="496119" y="3565178"/>
            <a:ext cx="3913808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ko-KR" alt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요리 레시피처럼 정해진 단계를 순서대로 따릅니다. 항상 같은 길을 걷습니다.</a:t>
            </a:r>
            <a:endParaRPr lang="ko-KR" sz="1000" dirty="0"/>
          </a:p>
        </p:txBody>
      </p:sp>
      <p:sp>
        <p:nvSpPr>
          <p:cNvPr id="22" name="Text 20"/>
          <p:cNvSpPr/>
          <p:nvPr/>
        </p:nvSpPr>
        <p:spPr>
          <a:xfrm>
            <a:off x="4738836" y="3257848"/>
            <a:ext cx="2141860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300" dirty="0">
                <a:solidFill>
                  <a:srgbClr val="000000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🗺️</a:t>
            </a:r>
            <a:pPr algn="l" indent="0" marL="0">
              <a:lnSpc>
                <a:spcPct val="104000"/>
              </a:lnSpc>
              <a:buNone/>
            </a:pPr>
            <a:r>
              <a:rPr lang="ko-KR" altLang="en-US" sz="13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 Graph = 내비게이션</a:t>
            </a:r>
            <a:endParaRPr lang="ko-KR" sz="1300" dirty="0"/>
          </a:p>
        </p:txBody>
      </p:sp>
      <p:sp>
        <p:nvSpPr>
          <p:cNvPr id="23" name="Text 21"/>
          <p:cNvSpPr/>
          <p:nvPr/>
        </p:nvSpPr>
        <p:spPr>
          <a:xfrm>
            <a:off x="4738836" y="3565178"/>
            <a:ext cx="4371008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ko-KR" alt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도로 상황에 따라 다음 경로를 고릅니다. 조건에 따라 길이 달라집니다.</a:t>
            </a:r>
            <a:endParaRPr lang="ko-KR" sz="1000" dirty="0"/>
          </a:p>
        </p:txBody>
      </p:sp>
      <p:sp>
        <p:nvSpPr>
          <p:cNvPr id="24" name="Shape 22"/>
          <p:cNvSpPr/>
          <p:nvPr/>
        </p:nvSpPr>
        <p:spPr>
          <a:xfrm>
            <a:off x="496119" y="4138985"/>
            <a:ext cx="8151763" cy="474985"/>
          </a:xfrm>
          <a:prstGeom prst="roundRect">
            <a:avLst>
              <a:gd name="adj" fmla="val 4197"/>
            </a:avLst>
          </a:prstGeom>
          <a:solidFill>
            <a:srgbClr val="B6FCB8"/>
          </a:solidFill>
          <a:ln/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9022" y="4326880"/>
            <a:ext cx="166092" cy="132904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928018" y="4271814"/>
            <a:ext cx="8044160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📌</a:t>
            </a:r>
            <a:pPr algn="l" indent="0" marL="0">
              <a:lnSpc>
                <a:spcPct val="117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핵심 정리: Graph는 실제 업무처럼 상황에 따라 달라지는 흐름을 표현하기 좋습니다.</a:t>
            </a:r>
            <a:endParaRPr lang="ko-KR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94333"/>
            <a:ext cx="4036814" cy="3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22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알람 코드 있음/없음 조건 분기</a:t>
            </a:r>
            <a:endParaRPr lang="ko-KR" sz="2250" dirty="0"/>
          </a:p>
        </p:txBody>
      </p:sp>
      <p:sp>
        <p:nvSpPr>
          <p:cNvPr id="3" name="Text 1"/>
          <p:cNvSpPr/>
          <p:nvPr/>
        </p:nvSpPr>
        <p:spPr>
          <a:xfrm>
            <a:off x="496119" y="1003995"/>
            <a:ext cx="8608963" cy="1520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ko-KR" alt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제조 장애 대응에서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90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알람 코드가 있는지 없는지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는 매우 중요한 판단 기준입니다.</a:t>
            </a:r>
            <a:endParaRPr lang="ko-KR" sz="900" dirty="0"/>
          </a:p>
        </p:txBody>
      </p:sp>
      <p:sp>
        <p:nvSpPr>
          <p:cNvPr id="4" name="Shape 2"/>
          <p:cNvSpPr/>
          <p:nvPr/>
        </p:nvSpPr>
        <p:spPr>
          <a:xfrm>
            <a:off x="496119" y="1240185"/>
            <a:ext cx="4038451" cy="803970"/>
          </a:xfrm>
          <a:prstGeom prst="roundRect">
            <a:avLst>
              <a:gd name="adj" fmla="val 2149"/>
            </a:avLst>
          </a:prstGeom>
          <a:solidFill>
            <a:srgbClr val="F2EEEE"/>
          </a:solidFill>
          <a:ln/>
        </p:spPr>
      </p:sp>
      <p:sp>
        <p:nvSpPr>
          <p:cNvPr id="5" name="Text 3"/>
          <p:cNvSpPr/>
          <p:nvPr/>
        </p:nvSpPr>
        <p:spPr>
          <a:xfrm>
            <a:off x="611237" y="1355303"/>
            <a:ext cx="1511424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100" dirty="0">
                <a:solidFill>
                  <a:srgbClr val="000000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✅</a:t>
            </a:r>
            <a:pPr algn="l" indent="0" marL="0">
              <a:lnSpc>
                <a:spcPct val="104000"/>
              </a:lnSpc>
              <a:buNone/>
            </a:pPr>
            <a:r>
              <a:rPr lang="ko-KR" altLang="en-US" sz="11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 알람 코드가 있는 경우</a:t>
            </a:r>
            <a:endParaRPr lang="ko-KR" sz="1100" dirty="0"/>
          </a:p>
        </p:txBody>
      </p:sp>
      <p:sp>
        <p:nvSpPr>
          <p:cNvPr id="6" name="Text 4"/>
          <p:cNvSpPr/>
          <p:nvPr/>
        </p:nvSpPr>
        <p:spPr>
          <a:xfrm>
            <a:off x="611237" y="1580108"/>
            <a:ext cx="3808214" cy="348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spcAft>
                <a:spcPts val="350"/>
              </a:spcAft>
              <a:buNone/>
            </a:pPr>
            <a:r>
              <a:rPr lang="ko-KR" alt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Agent는 관련 로그를 찾고 매뉴얼 근거를 확인할 수 있습니다.</a:t>
            </a:r>
            <a:endParaRPr lang="ko-KR" sz="9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90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예시: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EQP-EV-03 + ALM-TEMP-402 → 로그 조회로 이동</a:t>
            </a:r>
            <a:endParaRPr lang="ko-KR" sz="900" dirty="0"/>
          </a:p>
        </p:txBody>
      </p:sp>
      <p:sp>
        <p:nvSpPr>
          <p:cNvPr id="7" name="Shape 5"/>
          <p:cNvSpPr/>
          <p:nvPr/>
        </p:nvSpPr>
        <p:spPr>
          <a:xfrm>
            <a:off x="4609430" y="1240185"/>
            <a:ext cx="4038451" cy="803970"/>
          </a:xfrm>
          <a:prstGeom prst="roundRect">
            <a:avLst>
              <a:gd name="adj" fmla="val 2149"/>
            </a:avLst>
          </a:prstGeom>
          <a:solidFill>
            <a:srgbClr val="F2EEEE"/>
          </a:solidFill>
          <a:ln/>
        </p:spPr>
      </p:sp>
      <p:sp>
        <p:nvSpPr>
          <p:cNvPr id="8" name="Text 6"/>
          <p:cNvSpPr/>
          <p:nvPr/>
        </p:nvSpPr>
        <p:spPr>
          <a:xfrm>
            <a:off x="4724549" y="1355303"/>
            <a:ext cx="1511424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100" dirty="0">
                <a:solidFill>
                  <a:srgbClr val="000000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❌</a:t>
            </a:r>
            <a:pPr algn="l" indent="0" marL="0">
              <a:lnSpc>
                <a:spcPct val="104000"/>
              </a:lnSpc>
              <a:buNone/>
            </a:pPr>
            <a:r>
              <a:rPr lang="ko-KR" altLang="en-US" sz="11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 알람 코드가 없는 경우</a:t>
            </a:r>
            <a:endParaRPr lang="ko-KR" sz="1100" dirty="0"/>
          </a:p>
        </p:txBody>
      </p:sp>
      <p:sp>
        <p:nvSpPr>
          <p:cNvPr id="9" name="Text 7"/>
          <p:cNvSpPr/>
          <p:nvPr/>
        </p:nvSpPr>
        <p:spPr>
          <a:xfrm>
            <a:off x="4724549" y="1580108"/>
            <a:ext cx="3808214" cy="348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spcAft>
                <a:spcPts val="350"/>
              </a:spcAft>
              <a:buNone/>
            </a:pPr>
            <a:r>
              <a:rPr lang="ko-KR" alt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"알람 원인 알려줘"라고만 말하면 설비 ID와 알람 코드가 부족합니다.</a:t>
            </a:r>
            <a:endParaRPr lang="ko-KR" sz="9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바로 답하지 않고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90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추가 정보를 요청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해야 합니다.</a:t>
            </a:r>
            <a:endParaRPr lang="ko-KR" sz="9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0199" y="2128317"/>
            <a:ext cx="5003602" cy="205137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240834" y="2408170"/>
            <a:ext cx="1649392" cy="149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9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코드 없음</a:t>
            </a:r>
            <a:endParaRPr lang="ko-KR" sz="900" dirty="0"/>
          </a:p>
        </p:txBody>
      </p:sp>
      <p:sp>
        <p:nvSpPr>
          <p:cNvPr id="12" name="Text 9"/>
          <p:cNvSpPr/>
          <p:nvPr/>
        </p:nvSpPr>
        <p:spPr>
          <a:xfrm>
            <a:off x="4240834" y="2599583"/>
            <a:ext cx="2868077" cy="983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6000"/>
              </a:lnSpc>
              <a:buNone/>
            </a:pPr>
            <a:r>
              <a:rPr lang="ko-KR" altLang="en-US" sz="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설비 ID 등 추가 요청</a:t>
            </a:r>
            <a:endParaRPr lang="ko-KR" sz="750" dirty="0"/>
          </a:p>
        </p:txBody>
      </p:sp>
      <p:sp>
        <p:nvSpPr>
          <p:cNvPr id="13" name="Text 10"/>
          <p:cNvSpPr/>
          <p:nvPr/>
        </p:nvSpPr>
        <p:spPr>
          <a:xfrm>
            <a:off x="4240834" y="3001617"/>
            <a:ext cx="1649392" cy="149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9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코드 있음</a:t>
            </a:r>
            <a:endParaRPr lang="ko-KR" sz="900" dirty="0"/>
          </a:p>
        </p:txBody>
      </p:sp>
      <p:sp>
        <p:nvSpPr>
          <p:cNvPr id="14" name="Text 11"/>
          <p:cNvSpPr/>
          <p:nvPr/>
        </p:nvSpPr>
        <p:spPr>
          <a:xfrm>
            <a:off x="4240834" y="3193030"/>
            <a:ext cx="2868077" cy="983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6000"/>
              </a:lnSpc>
              <a:buNone/>
            </a:pPr>
            <a:r>
              <a:rPr lang="ko-KR" altLang="en-US" sz="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관련 로그 조회 진행</a:t>
            </a:r>
            <a:endParaRPr lang="ko-KR" sz="750" dirty="0"/>
          </a:p>
        </p:txBody>
      </p:sp>
      <p:sp>
        <p:nvSpPr>
          <p:cNvPr id="15" name="Text 12"/>
          <p:cNvSpPr/>
          <p:nvPr/>
        </p:nvSpPr>
        <p:spPr>
          <a:xfrm>
            <a:off x="4240834" y="3600362"/>
            <a:ext cx="1649392" cy="149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9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알람 코드 확인</a:t>
            </a:r>
            <a:endParaRPr lang="ko-KR" sz="900" dirty="0"/>
          </a:p>
        </p:txBody>
      </p:sp>
      <p:sp>
        <p:nvSpPr>
          <p:cNvPr id="16" name="Text 13"/>
          <p:cNvSpPr/>
          <p:nvPr/>
        </p:nvSpPr>
        <p:spPr>
          <a:xfrm>
            <a:off x="4240834" y="3791776"/>
            <a:ext cx="2868077" cy="983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6000"/>
              </a:lnSpc>
              <a:buNone/>
            </a:pPr>
            <a:r>
              <a:rPr lang="ko-KR" altLang="en-US" sz="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코드 존재 여부 판정</a:t>
            </a:r>
            <a:endParaRPr lang="ko-KR" sz="750" dirty="0"/>
          </a:p>
        </p:txBody>
      </p:sp>
      <p:sp>
        <p:nvSpPr>
          <p:cNvPr id="17" name="Shape 14"/>
          <p:cNvSpPr/>
          <p:nvPr/>
        </p:nvSpPr>
        <p:spPr>
          <a:xfrm>
            <a:off x="496119" y="4263851"/>
            <a:ext cx="8151763" cy="385242"/>
          </a:xfrm>
          <a:prstGeom prst="roundRect">
            <a:avLst>
              <a:gd name="adj" fmla="val 4485"/>
            </a:avLst>
          </a:prstGeom>
          <a:solidFill>
            <a:srgbClr val="B6FCB8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237" y="4421237"/>
            <a:ext cx="143917" cy="115119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870272" y="4367436"/>
            <a:ext cx="8119690" cy="1567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📌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핵심 정리: Graph는 정보가 충분한 경우와 부족한 경우를 나누어 처리합니다.</a:t>
            </a:r>
            <a:endParaRPr lang="ko-KR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11448"/>
            <a:ext cx="5450309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26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mini_graph_runner.py 파일 역할</a:t>
            </a:r>
            <a:endParaRPr lang="ko-KR" sz="2600" dirty="0"/>
          </a:p>
        </p:txBody>
      </p:sp>
      <p:sp>
        <p:nvSpPr>
          <p:cNvPr id="3" name="Text 1"/>
          <p:cNvSpPr/>
          <p:nvPr/>
        </p:nvSpPr>
        <p:spPr>
          <a:xfrm>
            <a:off x="496119" y="1126108"/>
            <a:ext cx="8608963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ko-KR" altLang="en-US" sz="1000" dirty="0">
                <a:solidFill>
                  <a:srgbClr val="46464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src/day1/mini_graph_runner.py</a:t>
            </a:r>
            <a:pPr algn="l" indent="0" marL="0">
              <a:lnSpc>
                <a:spcPct val="117000"/>
              </a:lnSpc>
              <a:buNone/>
            </a:pPr>
            <a:r>
              <a:rPr lang="ko-KR" alt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는 조건부 Graph 흐름을 이해하기 위한 실습 파일입니다.</a:t>
            </a:r>
            <a:endParaRPr lang="ko-KR" sz="1000" dirty="0"/>
          </a:p>
        </p:txBody>
      </p:sp>
      <p:sp>
        <p:nvSpPr>
          <p:cNvPr id="4" name="Text 2"/>
          <p:cNvSpPr/>
          <p:nvPr/>
        </p:nvSpPr>
        <p:spPr>
          <a:xfrm>
            <a:off x="496119" y="1433736"/>
            <a:ext cx="265807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64646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96119" y="1645295"/>
            <a:ext cx="4026024" cy="14288"/>
          </a:xfrm>
          <a:prstGeom prst="rect">
            <a:avLst/>
          </a:prstGeom>
          <a:solidFill>
            <a:srgbClr val="1C9770"/>
          </a:solidFill>
          <a:ln/>
        </p:spPr>
      </p:sp>
      <p:sp>
        <p:nvSpPr>
          <p:cNvPr id="6" name="Text 4"/>
          <p:cNvSpPr/>
          <p:nvPr/>
        </p:nvSpPr>
        <p:spPr>
          <a:xfrm>
            <a:off x="496119" y="1740322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3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입력 확인</a:t>
            </a:r>
            <a:endParaRPr lang="ko-KR" sz="1300" dirty="0"/>
          </a:p>
        </p:txBody>
      </p:sp>
      <p:sp>
        <p:nvSpPr>
          <p:cNvPr id="7" name="Text 5"/>
          <p:cNvSpPr/>
          <p:nvPr/>
        </p:nvSpPr>
        <p:spPr>
          <a:xfrm>
            <a:off x="496119" y="2007766"/>
            <a:ext cx="4026024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ko-KR" alt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사용자 질문과 입력값을 확인합니다.</a:t>
            </a:r>
            <a:endParaRPr lang="ko-KR" sz="1000" dirty="0"/>
          </a:p>
        </p:txBody>
      </p:sp>
      <p:sp>
        <p:nvSpPr>
          <p:cNvPr id="8" name="Text 6"/>
          <p:cNvSpPr/>
          <p:nvPr/>
        </p:nvSpPr>
        <p:spPr>
          <a:xfrm>
            <a:off x="4621783" y="1433736"/>
            <a:ext cx="265807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64646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21783" y="1645295"/>
            <a:ext cx="4026098" cy="14288"/>
          </a:xfrm>
          <a:prstGeom prst="rect">
            <a:avLst/>
          </a:prstGeom>
          <a:solidFill>
            <a:srgbClr val="1C9770"/>
          </a:solidFill>
          <a:ln/>
        </p:spPr>
      </p:sp>
      <p:sp>
        <p:nvSpPr>
          <p:cNvPr id="10" name="Text 8"/>
          <p:cNvSpPr/>
          <p:nvPr/>
        </p:nvSpPr>
        <p:spPr>
          <a:xfrm>
            <a:off x="4621783" y="1740322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3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조건 검사</a:t>
            </a:r>
            <a:endParaRPr lang="ko-KR" sz="1300" dirty="0"/>
          </a:p>
        </p:txBody>
      </p:sp>
      <p:sp>
        <p:nvSpPr>
          <p:cNvPr id="11" name="Text 9"/>
          <p:cNvSpPr/>
          <p:nvPr/>
        </p:nvSpPr>
        <p:spPr>
          <a:xfrm>
            <a:off x="4621783" y="2007766"/>
            <a:ext cx="4026098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ko-KR" altLang="en-US" sz="1000" dirty="0">
                <a:solidFill>
                  <a:srgbClr val="46464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equipment_id</a:t>
            </a:r>
            <a:pPr algn="l" indent="0" marL="0">
              <a:lnSpc>
                <a:spcPct val="117000"/>
              </a:lnSpc>
              <a:buNone/>
            </a:pPr>
            <a:r>
              <a:rPr lang="ko-KR" alt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와 </a:t>
            </a:r>
            <a:pPr algn="l" indent="0" marL="0">
              <a:lnSpc>
                <a:spcPct val="117000"/>
              </a:lnSpc>
              <a:buNone/>
            </a:pPr>
            <a:r>
              <a:rPr lang="ko-KR" altLang="en-US" sz="1000" dirty="0">
                <a:solidFill>
                  <a:srgbClr val="46464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alarm_code</a:t>
            </a:r>
            <a:pPr algn="l" indent="0" marL="0">
              <a:lnSpc>
                <a:spcPct val="117000"/>
              </a:lnSpc>
              <a:buNone/>
            </a:pPr>
            <a:r>
              <a:rPr lang="ko-KR" alt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가 있는지 검사합니다.</a:t>
            </a:r>
            <a:endParaRPr lang="ko-KR" sz="1000" dirty="0"/>
          </a:p>
        </p:txBody>
      </p:sp>
      <p:sp>
        <p:nvSpPr>
          <p:cNvPr id="12" name="Text 10"/>
          <p:cNvSpPr/>
          <p:nvPr/>
        </p:nvSpPr>
        <p:spPr>
          <a:xfrm>
            <a:off x="496119" y="2402607"/>
            <a:ext cx="265807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64646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03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96119" y="2614166"/>
            <a:ext cx="4026024" cy="14288"/>
          </a:xfrm>
          <a:prstGeom prst="rect">
            <a:avLst/>
          </a:prstGeom>
          <a:solidFill>
            <a:srgbClr val="1C9770"/>
          </a:solidFill>
          <a:ln/>
        </p:spPr>
      </p:sp>
      <p:sp>
        <p:nvSpPr>
          <p:cNvPr id="14" name="Text 12"/>
          <p:cNvSpPr/>
          <p:nvPr/>
        </p:nvSpPr>
        <p:spPr>
          <a:xfrm>
            <a:off x="496119" y="2709193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3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분기 실행</a:t>
            </a:r>
            <a:endParaRPr lang="ko-KR" sz="1300" dirty="0"/>
          </a:p>
        </p:txBody>
      </p:sp>
      <p:sp>
        <p:nvSpPr>
          <p:cNvPr id="15" name="Text 13"/>
          <p:cNvSpPr/>
          <p:nvPr/>
        </p:nvSpPr>
        <p:spPr>
          <a:xfrm>
            <a:off x="496119" y="2976637"/>
            <a:ext cx="4026024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ko-KR" alt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두 값이 있으면 </a:t>
            </a:r>
            <a:pPr algn="l" indent="0" marL="0">
              <a:lnSpc>
                <a:spcPct val="117000"/>
              </a:lnSpc>
              <a:buNone/>
            </a:pPr>
            <a:r>
              <a:rPr lang="ko-KR" altLang="en-US" sz="1000" dirty="0">
                <a:solidFill>
                  <a:srgbClr val="46464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search_log_node</a:t>
            </a:r>
            <a:pPr algn="l" indent="0" marL="0">
              <a:lnSpc>
                <a:spcPct val="117000"/>
              </a:lnSpc>
              <a:buNone/>
            </a:pPr>
            <a:r>
              <a:rPr lang="ko-KR" alt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로 이동해 관련 로그를 찾습니다.</a:t>
            </a:r>
            <a:endParaRPr lang="ko-KR" sz="1000" dirty="0"/>
          </a:p>
        </p:txBody>
      </p:sp>
      <p:sp>
        <p:nvSpPr>
          <p:cNvPr id="16" name="Text 14"/>
          <p:cNvSpPr/>
          <p:nvPr/>
        </p:nvSpPr>
        <p:spPr>
          <a:xfrm>
            <a:off x="4621783" y="2402607"/>
            <a:ext cx="265807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64646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04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21783" y="2614166"/>
            <a:ext cx="4026098" cy="14288"/>
          </a:xfrm>
          <a:prstGeom prst="rect">
            <a:avLst/>
          </a:prstGeom>
          <a:solidFill>
            <a:srgbClr val="1C9770"/>
          </a:solidFill>
          <a:ln/>
        </p:spPr>
      </p:sp>
      <p:sp>
        <p:nvSpPr>
          <p:cNvPr id="18" name="Text 16"/>
          <p:cNvSpPr/>
          <p:nvPr/>
        </p:nvSpPr>
        <p:spPr>
          <a:xfrm>
            <a:off x="4621783" y="2709193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3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추가 질문</a:t>
            </a:r>
            <a:endParaRPr lang="ko-KR" sz="1300" dirty="0"/>
          </a:p>
        </p:txBody>
      </p:sp>
      <p:sp>
        <p:nvSpPr>
          <p:cNvPr id="19" name="Text 17"/>
          <p:cNvSpPr/>
          <p:nvPr/>
        </p:nvSpPr>
        <p:spPr>
          <a:xfrm>
            <a:off x="4621783" y="2976637"/>
            <a:ext cx="4026098" cy="3815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ko-KR" alt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값이 부족하면 </a:t>
            </a:r>
            <a:pPr algn="l" indent="0" marL="0">
              <a:lnSpc>
                <a:spcPct val="117000"/>
              </a:lnSpc>
              <a:buNone/>
            </a:pPr>
            <a:r>
              <a:rPr lang="ko-KR" altLang="en-US" sz="1000" dirty="0">
                <a:solidFill>
                  <a:srgbClr val="46464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ask_more_info_node</a:t>
            </a:r>
            <a:pPr algn="l" indent="0" marL="0">
              <a:lnSpc>
                <a:spcPct val="117000"/>
              </a:lnSpc>
              <a:buNone/>
            </a:pPr>
            <a:r>
              <a:rPr lang="ko-KR" alt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로 이동해 추가 정보 요청 메시지를 만듭니다.</a:t>
            </a:r>
            <a:endParaRPr lang="ko-KR" sz="1000" dirty="0"/>
          </a:p>
        </p:txBody>
      </p:sp>
      <p:sp>
        <p:nvSpPr>
          <p:cNvPr id="20" name="Shape 18"/>
          <p:cNvSpPr/>
          <p:nvPr/>
        </p:nvSpPr>
        <p:spPr>
          <a:xfrm>
            <a:off x="496119" y="3569940"/>
            <a:ext cx="8151763" cy="474985"/>
          </a:xfrm>
          <a:prstGeom prst="roundRect">
            <a:avLst>
              <a:gd name="adj" fmla="val 4197"/>
            </a:avLst>
          </a:prstGeom>
          <a:solidFill>
            <a:srgbClr val="B6D6FC"/>
          </a:solidFill>
          <a:ln/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9022" y="3757836"/>
            <a:ext cx="166092" cy="132904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928018" y="3702769"/>
            <a:ext cx="8044160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💡</a:t>
            </a:r>
            <a:pPr algn="l" indent="0" marL="0">
              <a:lnSpc>
                <a:spcPct val="117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이 파일은 단순 실행 순서가 아니라 </a:t>
            </a:r>
            <a:pPr algn="l" indent="0" marL="0">
              <a:lnSpc>
                <a:spcPct val="117000"/>
              </a:lnSpc>
              <a:buNone/>
            </a:pPr>
            <a:r>
              <a:rPr lang="ko-KR" altLang="en-US" sz="1000" b="1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조건에 따라 다음 작업이 달라지는 업무 흐름</a:t>
            </a:r>
            <a:pPr algn="l" indent="0" marL="0">
              <a:lnSpc>
                <a:spcPct val="117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을 보여줍니다.</a:t>
            </a:r>
            <a:endParaRPr lang="ko-KR" sz="1000" dirty="0"/>
          </a:p>
        </p:txBody>
      </p:sp>
      <p:sp>
        <p:nvSpPr>
          <p:cNvPr id="23" name="Shape 20"/>
          <p:cNvSpPr/>
          <p:nvPr/>
        </p:nvSpPr>
        <p:spPr>
          <a:xfrm>
            <a:off x="496119" y="4156993"/>
            <a:ext cx="8151763" cy="474985"/>
          </a:xfrm>
          <a:prstGeom prst="roundRect">
            <a:avLst>
              <a:gd name="adj" fmla="val 4197"/>
            </a:avLst>
          </a:prstGeom>
          <a:solidFill>
            <a:srgbClr val="B6FCB8"/>
          </a:solidFill>
          <a:ln/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022" y="4344888"/>
            <a:ext cx="166092" cy="132904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928018" y="4289822"/>
            <a:ext cx="8044160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📌</a:t>
            </a:r>
            <a:pPr algn="l" indent="0" marL="0">
              <a:lnSpc>
                <a:spcPct val="117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핵심 정리: mini_graph_runner.py는 Agent의 갈림길 판단을 체험하는 파일입니다.</a:t>
            </a:r>
            <a:endParaRPr lang="ko-KR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8379" y="490686"/>
            <a:ext cx="3291855" cy="354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22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알람 코드가 있는 경우</a:t>
            </a:r>
            <a:endParaRPr lang="ko-KR" sz="2200" dirty="0"/>
          </a:p>
        </p:txBody>
      </p:sp>
      <p:sp>
        <p:nvSpPr>
          <p:cNvPr id="3" name="Text 1"/>
          <p:cNvSpPr/>
          <p:nvPr/>
        </p:nvSpPr>
        <p:spPr>
          <a:xfrm>
            <a:off x="488379" y="990005"/>
            <a:ext cx="8624441" cy="163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ko-KR" alt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알람 코드가 있는 경우의 흐름은 비교적 자연스럽습니다. 사용자 요청에 </a:t>
            </a:r>
            <a:pPr algn="l" indent="0" marL="0">
              <a:lnSpc>
                <a:spcPct val="109000"/>
              </a:lnSpc>
              <a:buNone/>
            </a:pPr>
            <a:r>
              <a:rPr lang="ko-KR" altLang="en-US" sz="850" dirty="0">
                <a:solidFill>
                  <a:srgbClr val="46464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equipment_id</a:t>
            </a:r>
            <a:pPr algn="l" indent="0" marL="0">
              <a:lnSpc>
                <a:spcPct val="109000"/>
              </a:lnSpc>
              <a:buNone/>
            </a:pPr>
            <a:r>
              <a:rPr lang="ko-KR" alt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와 </a:t>
            </a:r>
            <a:pPr algn="l" indent="0" marL="0">
              <a:lnSpc>
                <a:spcPct val="109000"/>
              </a:lnSpc>
              <a:buNone/>
            </a:pPr>
            <a:r>
              <a:rPr lang="ko-KR" altLang="en-US" sz="850" dirty="0">
                <a:solidFill>
                  <a:srgbClr val="46464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alarm_code</a:t>
            </a:r>
            <a:pPr algn="l" indent="0" marL="0">
              <a:lnSpc>
                <a:spcPct val="109000"/>
              </a:lnSpc>
              <a:buNone/>
            </a:pPr>
            <a:r>
              <a:rPr lang="ko-KR" alt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가 모두 있으면 Graph는 </a:t>
            </a:r>
            <a:pPr algn="l" indent="0" marL="0">
              <a:lnSpc>
                <a:spcPct val="109000"/>
              </a:lnSpc>
              <a:buNone/>
            </a:pPr>
            <a:r>
              <a:rPr lang="ko-KR" altLang="en-US" sz="8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필수 정보가 있다고 판단</a:t>
            </a:r>
            <a:pPr algn="l" indent="0" marL="0">
              <a:lnSpc>
                <a:spcPct val="109000"/>
              </a:lnSpc>
              <a:buNone/>
            </a:pPr>
            <a:r>
              <a:rPr lang="ko-KR" alt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합니다.</a:t>
            </a:r>
            <a:endParaRPr lang="ko-KR" sz="8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2631" y="1234604"/>
            <a:ext cx="5138663" cy="192821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25985" y="2694729"/>
            <a:ext cx="1003646" cy="14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ko-KR" altLang="en-US" sz="9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Prompt 생성</a:t>
            </a:r>
            <a:endParaRPr lang="ko-KR" sz="900" dirty="0"/>
          </a:p>
        </p:txBody>
      </p:sp>
      <p:sp>
        <p:nvSpPr>
          <p:cNvPr id="6" name="Text 3"/>
          <p:cNvSpPr/>
          <p:nvPr/>
        </p:nvSpPr>
        <p:spPr>
          <a:xfrm>
            <a:off x="4949215" y="2694729"/>
            <a:ext cx="1003646" cy="14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ko-KR" altLang="en-US" sz="9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결과 요약</a:t>
            </a:r>
            <a:endParaRPr lang="ko-KR" sz="900" dirty="0"/>
          </a:p>
        </p:txBody>
      </p:sp>
      <p:sp>
        <p:nvSpPr>
          <p:cNvPr id="7" name="Text 4"/>
          <p:cNvSpPr/>
          <p:nvPr/>
        </p:nvSpPr>
        <p:spPr>
          <a:xfrm>
            <a:off x="3977754" y="2694729"/>
            <a:ext cx="1003646" cy="14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ko-KR" altLang="en-US" sz="9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로그 조회</a:t>
            </a:r>
            <a:endParaRPr lang="ko-KR" sz="900" dirty="0"/>
          </a:p>
        </p:txBody>
      </p:sp>
      <p:sp>
        <p:nvSpPr>
          <p:cNvPr id="8" name="Text 5"/>
          <p:cNvSpPr/>
          <p:nvPr/>
        </p:nvSpPr>
        <p:spPr>
          <a:xfrm>
            <a:off x="3006292" y="2694729"/>
            <a:ext cx="1003646" cy="14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ko-KR" altLang="en-US" sz="9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알람 코드 확인</a:t>
            </a:r>
            <a:endParaRPr lang="ko-KR" sz="900" dirty="0"/>
          </a:p>
        </p:txBody>
      </p:sp>
      <p:sp>
        <p:nvSpPr>
          <p:cNvPr id="9" name="Text 6"/>
          <p:cNvSpPr/>
          <p:nvPr/>
        </p:nvSpPr>
        <p:spPr>
          <a:xfrm>
            <a:off x="2013596" y="2694729"/>
            <a:ext cx="1003646" cy="14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ko-KR" altLang="en-US" sz="9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사용자 질문</a:t>
            </a:r>
            <a:endParaRPr lang="ko-KR" sz="900" dirty="0"/>
          </a:p>
        </p:txBody>
      </p:sp>
      <p:sp>
        <p:nvSpPr>
          <p:cNvPr id="10" name="Shape 7"/>
          <p:cNvSpPr/>
          <p:nvPr/>
        </p:nvSpPr>
        <p:spPr>
          <a:xfrm>
            <a:off x="488379" y="3244379"/>
            <a:ext cx="2674069" cy="950714"/>
          </a:xfrm>
          <a:prstGeom prst="roundRect">
            <a:avLst>
              <a:gd name="adj" fmla="val 7214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4092" y="3244379"/>
            <a:ext cx="57150" cy="950714"/>
          </a:xfrm>
          <a:prstGeom prst="roundRect">
            <a:avLst>
              <a:gd name="adj" fmla="val 29760"/>
            </a:avLst>
          </a:prstGeom>
          <a:solidFill>
            <a:srgbClr val="1C9770"/>
          </a:solidFill>
          <a:ln/>
        </p:spPr>
      </p:sp>
      <p:sp>
        <p:nvSpPr>
          <p:cNvPr id="12" name="Text 9"/>
          <p:cNvSpPr/>
          <p:nvPr/>
        </p:nvSpPr>
        <p:spPr>
          <a:xfrm>
            <a:off x="658862" y="3371999"/>
            <a:ext cx="1417290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1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1단계: 알람 코드 확인</a:t>
            </a:r>
            <a:endParaRPr lang="ko-KR" sz="1100" dirty="0"/>
          </a:p>
        </p:txBody>
      </p:sp>
      <p:sp>
        <p:nvSpPr>
          <p:cNvPr id="13" name="Text 10"/>
          <p:cNvSpPr/>
          <p:nvPr/>
        </p:nvSpPr>
        <p:spPr>
          <a:xfrm>
            <a:off x="658862" y="3592637"/>
            <a:ext cx="2375967" cy="2975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ko-KR" alt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equipment_id와 alarm_code가 모두 있는지 판단합니다.</a:t>
            </a:r>
            <a:endParaRPr lang="ko-KR" sz="850" dirty="0"/>
          </a:p>
        </p:txBody>
      </p:sp>
      <p:sp>
        <p:nvSpPr>
          <p:cNvPr id="14" name="Shape 11"/>
          <p:cNvSpPr/>
          <p:nvPr/>
        </p:nvSpPr>
        <p:spPr>
          <a:xfrm>
            <a:off x="3234928" y="3244379"/>
            <a:ext cx="2674069" cy="950714"/>
          </a:xfrm>
          <a:prstGeom prst="roundRect">
            <a:avLst>
              <a:gd name="adj" fmla="val 7214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220641" y="3244379"/>
            <a:ext cx="57150" cy="950714"/>
          </a:xfrm>
          <a:prstGeom prst="roundRect">
            <a:avLst>
              <a:gd name="adj" fmla="val 29760"/>
            </a:avLst>
          </a:prstGeom>
          <a:solidFill>
            <a:srgbClr val="1C9770"/>
          </a:solidFill>
          <a:ln/>
        </p:spPr>
      </p:sp>
      <p:sp>
        <p:nvSpPr>
          <p:cNvPr id="16" name="Text 13"/>
          <p:cNvSpPr/>
          <p:nvPr/>
        </p:nvSpPr>
        <p:spPr>
          <a:xfrm>
            <a:off x="3405411" y="3371999"/>
            <a:ext cx="1417290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1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2단계: 로그 조회</a:t>
            </a:r>
            <a:endParaRPr lang="ko-KR" sz="1100" dirty="0"/>
          </a:p>
        </p:txBody>
      </p:sp>
      <p:sp>
        <p:nvSpPr>
          <p:cNvPr id="17" name="Text 14"/>
          <p:cNvSpPr/>
          <p:nvPr/>
        </p:nvSpPr>
        <p:spPr>
          <a:xfrm>
            <a:off x="3405411" y="3592637"/>
            <a:ext cx="2375967" cy="4748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ko-KR" altLang="en-US" sz="850" dirty="0">
                <a:solidFill>
                  <a:srgbClr val="46464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search_log_node</a:t>
            </a:r>
            <a:pPr algn="l" indent="0" marL="0">
              <a:lnSpc>
                <a:spcPct val="109000"/>
              </a:lnSpc>
              <a:buNone/>
            </a:pPr>
            <a:r>
              <a:rPr lang="ko-KR" alt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로 이동해 </a:t>
            </a:r>
            <a:pPr algn="l" indent="0" marL="0">
              <a:lnSpc>
                <a:spcPct val="109000"/>
              </a:lnSpc>
              <a:buNone/>
            </a:pPr>
            <a:r>
              <a:rPr lang="ko-KR" altLang="en-US" sz="850" dirty="0">
                <a:solidFill>
                  <a:srgbClr val="46464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sample_alarm_logs.csv</a:t>
            </a:r>
            <a:pPr algn="l" indent="0" marL="0">
              <a:lnSpc>
                <a:spcPct val="109000"/>
              </a:lnSpc>
              <a:buNone/>
            </a:pPr>
            <a:r>
              <a:rPr lang="ko-KR" alt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에서 조건에 맞는 로그를 찾습니다.</a:t>
            </a:r>
            <a:endParaRPr lang="ko-KR" sz="850" dirty="0"/>
          </a:p>
        </p:txBody>
      </p:sp>
      <p:sp>
        <p:nvSpPr>
          <p:cNvPr id="18" name="Shape 15"/>
          <p:cNvSpPr/>
          <p:nvPr/>
        </p:nvSpPr>
        <p:spPr>
          <a:xfrm>
            <a:off x="5981477" y="3244379"/>
            <a:ext cx="2674144" cy="950714"/>
          </a:xfrm>
          <a:prstGeom prst="roundRect">
            <a:avLst>
              <a:gd name="adj" fmla="val 7214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967189" y="3244379"/>
            <a:ext cx="57150" cy="950714"/>
          </a:xfrm>
          <a:prstGeom prst="roundRect">
            <a:avLst>
              <a:gd name="adj" fmla="val 29760"/>
            </a:avLst>
          </a:prstGeom>
          <a:solidFill>
            <a:srgbClr val="1C9770"/>
          </a:solidFill>
          <a:ln/>
        </p:spPr>
      </p:sp>
      <p:sp>
        <p:nvSpPr>
          <p:cNvPr id="20" name="Text 17"/>
          <p:cNvSpPr/>
          <p:nvPr/>
        </p:nvSpPr>
        <p:spPr>
          <a:xfrm>
            <a:off x="6151959" y="3371999"/>
            <a:ext cx="1970336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1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3단계: 결과 요약 및 Prompt 생성</a:t>
            </a:r>
            <a:endParaRPr lang="ko-KR" sz="1100" dirty="0"/>
          </a:p>
        </p:txBody>
      </p:sp>
      <p:sp>
        <p:nvSpPr>
          <p:cNvPr id="21" name="Text 18"/>
          <p:cNvSpPr/>
          <p:nvPr/>
        </p:nvSpPr>
        <p:spPr>
          <a:xfrm>
            <a:off x="6151959" y="3592637"/>
            <a:ext cx="2376041" cy="2975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ko-KR" alt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결과를 요약하고 Prompt를 만든 뒤 LLM 응답 흐름으로 이어집니다.</a:t>
            </a:r>
            <a:endParaRPr lang="ko-KR" sz="850" dirty="0"/>
          </a:p>
        </p:txBody>
      </p:sp>
      <p:sp>
        <p:nvSpPr>
          <p:cNvPr id="22" name="Shape 19"/>
          <p:cNvSpPr/>
          <p:nvPr/>
        </p:nvSpPr>
        <p:spPr>
          <a:xfrm>
            <a:off x="488379" y="4276651"/>
            <a:ext cx="8167241" cy="376163"/>
          </a:xfrm>
          <a:prstGeom prst="roundRect">
            <a:avLst>
              <a:gd name="adj" fmla="val 4521"/>
            </a:avLst>
          </a:prstGeom>
          <a:solidFill>
            <a:srgbClr val="B6FCB8"/>
          </a:solidFill>
          <a:ln/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712" y="4433367"/>
            <a:ext cx="141684" cy="113333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856729" y="4377407"/>
            <a:ext cx="8142759" cy="153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📌</a:t>
            </a:r>
            <a:pPr algn="l" indent="0" marL="0">
              <a:lnSpc>
                <a:spcPct val="109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핵심 정리: 정보가 충분하면 Agent는 필요한 자료를 찾아 다음 단계로 진행합니다.</a:t>
            </a:r>
            <a:endParaRPr lang="ko-KR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49114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27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알람 코드가 없는 경우</a:t>
            </a:r>
            <a:endParaRPr lang="ko-KR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318915"/>
            <a:ext cx="8608963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ko-KR" alt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알람 코드나 설비 ID가 없으면 Graph는 </a:t>
            </a:r>
            <a:pPr algn="l" indent="0" marL="0">
              <a:lnSpc>
                <a:spcPct val="120000"/>
              </a:lnSpc>
              <a:buNone/>
            </a:pPr>
            <a:r>
              <a:rPr lang="ko-KR" altLang="en-US" sz="110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바로 답변을 만들지 않습니다.</a:t>
            </a:r>
            <a:endParaRPr lang="ko-KR" sz="1100" dirty="0"/>
          </a:p>
        </p:txBody>
      </p:sp>
      <p:sp>
        <p:nvSpPr>
          <p:cNvPr id="4" name="Text 2"/>
          <p:cNvSpPr/>
          <p:nvPr/>
        </p:nvSpPr>
        <p:spPr>
          <a:xfrm>
            <a:off x="496119" y="1763985"/>
            <a:ext cx="2968823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350" dirty="0">
                <a:solidFill>
                  <a:srgbClr val="000000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❌</a:t>
            </a:r>
            <a:pPr algn="l" indent="0" marL="0">
              <a:lnSpc>
                <a:spcPct val="104000"/>
              </a:lnSpc>
              <a:buNone/>
            </a:pPr>
            <a:r>
              <a:rPr lang="ko-KR" altLang="en-US" sz="13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 이런 질문은 정보가 부족합니다</a:t>
            </a:r>
            <a:endParaRPr lang="ko-KR" sz="1350" dirty="0"/>
          </a:p>
        </p:txBody>
      </p:sp>
      <p:sp>
        <p:nvSpPr>
          <p:cNvPr id="5" name="Text 3"/>
          <p:cNvSpPr/>
          <p:nvPr/>
        </p:nvSpPr>
        <p:spPr>
          <a:xfrm>
            <a:off x="708720" y="2117750"/>
            <a:ext cx="414754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ko-KR" alt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"알람 원인 알려줘"</a:t>
            </a:r>
            <a:endParaRPr lang="ko-KR" sz="1100" dirty="0"/>
          </a:p>
        </p:txBody>
      </p:sp>
      <p:sp>
        <p:nvSpPr>
          <p:cNvPr id="6" name="Shape 4"/>
          <p:cNvSpPr/>
          <p:nvPr/>
        </p:nvSpPr>
        <p:spPr>
          <a:xfrm>
            <a:off x="496119" y="2117750"/>
            <a:ext cx="19050" cy="204118"/>
          </a:xfrm>
          <a:prstGeom prst="rect">
            <a:avLst/>
          </a:prstGeom>
          <a:solidFill>
            <a:srgbClr val="1C9770"/>
          </a:solidFill>
          <a:ln/>
        </p:spPr>
      </p:sp>
      <p:sp>
        <p:nvSpPr>
          <p:cNvPr id="7" name="Text 5"/>
          <p:cNvSpPr/>
          <p:nvPr/>
        </p:nvSpPr>
        <p:spPr>
          <a:xfrm>
            <a:off x="496119" y="2449413"/>
            <a:ext cx="3902943" cy="626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ko-KR" alt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어떤 설비인지, 어떤 알람인지 알 수 없습니다. 이때 </a:t>
            </a:r>
            <a:pPr algn="l" indent="0" marL="0">
              <a:lnSpc>
                <a:spcPct val="120000"/>
              </a:lnSpc>
              <a:buNone/>
            </a:pPr>
            <a:r>
              <a:rPr lang="ko-KR" altLang="en-US" sz="1100" dirty="0">
                <a:solidFill>
                  <a:srgbClr val="46464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mini_graph_runner.py</a:t>
            </a:r>
            <a:pPr algn="l" indent="0" marL="0">
              <a:lnSpc>
                <a:spcPct val="120000"/>
              </a:lnSpc>
              <a:buNone/>
            </a:pPr>
            <a:r>
              <a:rPr lang="ko-KR" alt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는 </a:t>
            </a:r>
            <a:pPr algn="l" indent="0" marL="0">
              <a:lnSpc>
                <a:spcPct val="120000"/>
              </a:lnSpc>
              <a:buNone/>
            </a:pPr>
            <a:r>
              <a:rPr lang="ko-KR" altLang="en-US" sz="1100" dirty="0">
                <a:solidFill>
                  <a:srgbClr val="46464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ask_more_info_node</a:t>
            </a:r>
            <a:pPr algn="l" indent="0" marL="0">
              <a:lnSpc>
                <a:spcPct val="120000"/>
              </a:lnSpc>
              <a:buNone/>
            </a:pPr>
            <a:r>
              <a:rPr lang="ko-KR" alt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로 이동해 추가 정보가 필요하다는 메시지를 만듭니다.</a:t>
            </a:r>
            <a:endParaRPr lang="ko-KR" sz="1100" dirty="0"/>
          </a:p>
        </p:txBody>
      </p:sp>
      <p:sp>
        <p:nvSpPr>
          <p:cNvPr id="8" name="Shape 6"/>
          <p:cNvSpPr/>
          <p:nvPr/>
        </p:nvSpPr>
        <p:spPr>
          <a:xfrm>
            <a:off x="4647605" y="1650578"/>
            <a:ext cx="4107135" cy="1527497"/>
          </a:xfrm>
          <a:prstGeom prst="roundRect">
            <a:avLst>
              <a:gd name="adj" fmla="val 1392"/>
            </a:avLst>
          </a:prstGeom>
          <a:solidFill>
            <a:srgbClr val="4950BC"/>
          </a:solidFill>
          <a:ln/>
        </p:spPr>
      </p:sp>
      <p:sp>
        <p:nvSpPr>
          <p:cNvPr id="9" name="Text 7"/>
          <p:cNvSpPr/>
          <p:nvPr/>
        </p:nvSpPr>
        <p:spPr>
          <a:xfrm>
            <a:off x="4789363" y="1763985"/>
            <a:ext cx="232782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35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Agent vs 단순 LLM 차이</a:t>
            </a:r>
            <a:endParaRPr lang="ko-KR" sz="1350" dirty="0"/>
          </a:p>
        </p:txBody>
      </p:sp>
      <p:sp>
        <p:nvSpPr>
          <p:cNvPr id="10" name="Text 8"/>
          <p:cNvSpPr/>
          <p:nvPr/>
        </p:nvSpPr>
        <p:spPr>
          <a:xfrm>
            <a:off x="4789363" y="2098849"/>
            <a:ext cx="3823618" cy="8163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단순 LLM:</a:t>
            </a:r>
            <a:pPr algn="l"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ko-KR" altLang="en-US" sz="110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부족한 정보로도 답을 만들 수 있습니다.</a:t>
            </a:r>
            <a:endParaRPr lang="ko-KR" sz="11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Agent:</a:t>
            </a:r>
            <a:pPr algn="l"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ko-KR" altLang="en-US" sz="110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필요한 정보가 부족하면 먼저 질문해야 합니다.</a:t>
            </a:r>
            <a:endParaRPr lang="ko-KR" sz="11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ko-KR" altLang="en-US" sz="110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Agent는 무리한 추측보다 </a:t>
            </a:r>
            <a:pPr algn="l" indent="0" marL="0">
              <a:lnSpc>
                <a:spcPct val="120000"/>
              </a:lnSpc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안전한 추가 질문</a:t>
            </a:r>
            <a:pPr algn="l" indent="0" marL="0">
              <a:lnSpc>
                <a:spcPct val="120000"/>
              </a:lnSpc>
              <a:buNone/>
            </a:pPr>
            <a:r>
              <a:rPr lang="ko-KR" altLang="en-US" sz="110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을 선택합니다.</a:t>
            </a:r>
            <a:endParaRPr lang="ko-KR" sz="1100" dirty="0"/>
          </a:p>
        </p:txBody>
      </p:sp>
      <p:sp>
        <p:nvSpPr>
          <p:cNvPr id="11" name="Shape 9"/>
          <p:cNvSpPr/>
          <p:nvPr/>
        </p:nvSpPr>
        <p:spPr>
          <a:xfrm>
            <a:off x="496119" y="3305621"/>
            <a:ext cx="8151763" cy="530572"/>
          </a:xfrm>
          <a:prstGeom prst="roundRect">
            <a:avLst>
              <a:gd name="adj" fmla="val 4008"/>
            </a:avLst>
          </a:prstGeom>
          <a:solidFill>
            <a:srgbClr val="FCF2B5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7877" y="3511153"/>
            <a:ext cx="177180" cy="141759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956816" y="3454450"/>
            <a:ext cx="8006507" cy="208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ko-KR" altLang="en-US" sz="110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⚠️</a:t>
            </a:r>
            <a:pPr algn="l" indent="0" marL="0">
              <a:lnSpc>
                <a:spcPct val="120000"/>
              </a:lnSpc>
              <a:buNone/>
            </a:pPr>
            <a:r>
              <a:rPr lang="ko-KR" altLang="en-US" sz="110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정보가 부족할 때 무리하게 답변을 만들면 잘못된 정보가 전달될 수 있습니다.</a:t>
            </a:r>
            <a:endParaRPr lang="ko-KR" sz="1100" dirty="0"/>
          </a:p>
        </p:txBody>
      </p:sp>
      <p:sp>
        <p:nvSpPr>
          <p:cNvPr id="14" name="Shape 11"/>
          <p:cNvSpPr/>
          <p:nvPr/>
        </p:nvSpPr>
        <p:spPr>
          <a:xfrm>
            <a:off x="496119" y="3963739"/>
            <a:ext cx="8151763" cy="530572"/>
          </a:xfrm>
          <a:prstGeom prst="roundRect">
            <a:avLst>
              <a:gd name="adj" fmla="val 4008"/>
            </a:avLst>
          </a:prstGeom>
          <a:solidFill>
            <a:srgbClr val="B6FCB8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877" y="4169271"/>
            <a:ext cx="177180" cy="141759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956816" y="4112568"/>
            <a:ext cx="8006507" cy="208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ko-KR" altLang="en-US" sz="110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📌</a:t>
            </a:r>
            <a:pPr algn="l" indent="0" marL="0">
              <a:lnSpc>
                <a:spcPct val="120000"/>
              </a:lnSpc>
              <a:buNone/>
            </a:pPr>
            <a:r>
              <a:rPr lang="ko-KR" altLang="en-US" sz="110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핵심 정리: Graph는 무리한 추측보다 안전한 추가 질문을 선택할 수 있습니다.</a:t>
            </a:r>
            <a:endParaRPr lang="ko-KR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06462"/>
            <a:ext cx="3779862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26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조건부 흐름 정리</a:t>
            </a:r>
            <a:endParaRPr lang="ko-KR" sz="2600" dirty="0"/>
          </a:p>
        </p:txBody>
      </p:sp>
      <p:sp>
        <p:nvSpPr>
          <p:cNvPr id="3" name="Text 1"/>
          <p:cNvSpPr/>
          <p:nvPr/>
        </p:nvSpPr>
        <p:spPr>
          <a:xfrm>
            <a:off x="496119" y="1121122"/>
            <a:ext cx="8608963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ko-KR" alt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이번 장에서는 Graph가 </a:t>
            </a:r>
            <a:pPr algn="l" indent="0" marL="0">
              <a:lnSpc>
                <a:spcPct val="117000"/>
              </a:lnSpc>
              <a:buNone/>
            </a:pPr>
            <a:r>
              <a:rPr lang="ko-KR" altLang="en-US" sz="100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조건에 따라 실행 경로를 바꾸는 구조</a:t>
            </a:r>
            <a:pPr algn="l" indent="0" marL="0">
              <a:lnSpc>
                <a:spcPct val="117000"/>
              </a:lnSpc>
              <a:buNone/>
            </a:pPr>
            <a:r>
              <a:rPr lang="ko-KR" alt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라는 점을 배웠습니다.</a:t>
            </a:r>
            <a:endParaRPr lang="ko-KR" sz="1000" dirty="0"/>
          </a:p>
        </p:txBody>
      </p:sp>
      <p:sp>
        <p:nvSpPr>
          <p:cNvPr id="4" name="Shape 2"/>
          <p:cNvSpPr/>
          <p:nvPr/>
        </p:nvSpPr>
        <p:spPr>
          <a:xfrm>
            <a:off x="496119" y="1419225"/>
            <a:ext cx="4026024" cy="1456655"/>
          </a:xfrm>
          <a:prstGeom prst="roundRect">
            <a:avLst>
              <a:gd name="adj" fmla="val 1369"/>
            </a:avLst>
          </a:prstGeom>
          <a:solidFill>
            <a:srgbClr val="F2EEEE"/>
          </a:solidFill>
          <a:ln/>
        </p:spPr>
      </p:sp>
      <p:sp>
        <p:nvSpPr>
          <p:cNvPr id="5" name="Text 3"/>
          <p:cNvSpPr/>
          <p:nvPr/>
        </p:nvSpPr>
        <p:spPr>
          <a:xfrm>
            <a:off x="629022" y="1552129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300" dirty="0">
                <a:solidFill>
                  <a:srgbClr val="000000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📥</a:t>
            </a:r>
            <a:pPr algn="l" indent="0" marL="0">
              <a:lnSpc>
                <a:spcPct val="104000"/>
              </a:lnSpc>
              <a:buNone/>
            </a:pPr>
            <a:r>
              <a:rPr lang="ko-KR" altLang="en-US" sz="13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 정보가 있는 경우</a:t>
            </a:r>
            <a:endParaRPr lang="ko-KR" sz="1300" dirty="0"/>
          </a:p>
        </p:txBody>
      </p:sp>
      <p:sp>
        <p:nvSpPr>
          <p:cNvPr id="6" name="Text 4"/>
          <p:cNvSpPr/>
          <p:nvPr/>
        </p:nvSpPr>
        <p:spPr>
          <a:xfrm>
            <a:off x="629022" y="1819573"/>
            <a:ext cx="3760217" cy="923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450"/>
              </a:spcAft>
              <a:buNone/>
            </a:pPr>
            <a:r>
              <a:rPr lang="ko-KR" alt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설비 ID + 알람 코드 확인</a:t>
            </a:r>
            <a:endParaRPr lang="ko-KR" sz="1000" dirty="0"/>
          </a:p>
          <a:p>
            <a:pPr algn="l" indent="0" marL="0">
              <a:lnSpc>
                <a:spcPct val="117000"/>
              </a:lnSpc>
              <a:spcAft>
                <a:spcPts val="450"/>
              </a:spcAft>
              <a:buNone/>
            </a:pPr>
            <a:r>
              <a:rPr lang="ko-KR" alt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→ 로그 조회</a:t>
            </a:r>
            <a:endParaRPr lang="ko-KR" sz="1000" dirty="0"/>
          </a:p>
          <a:p>
            <a:pPr algn="l" indent="0" marL="0">
              <a:lnSpc>
                <a:spcPct val="117000"/>
              </a:lnSpc>
              <a:spcAft>
                <a:spcPts val="450"/>
              </a:spcAft>
              <a:buNone/>
            </a:pPr>
            <a:r>
              <a:rPr lang="ko-KR" alt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→ 매뉴얼 확인</a:t>
            </a:r>
            <a:endParaRPr lang="ko-KR" sz="10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ko-KR" alt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→ 결과 생성</a:t>
            </a:r>
            <a:endParaRPr lang="ko-KR" sz="1000" dirty="0"/>
          </a:p>
        </p:txBody>
      </p:sp>
      <p:sp>
        <p:nvSpPr>
          <p:cNvPr id="7" name="Shape 5"/>
          <p:cNvSpPr/>
          <p:nvPr/>
        </p:nvSpPr>
        <p:spPr>
          <a:xfrm>
            <a:off x="4621783" y="1419225"/>
            <a:ext cx="4026098" cy="1456655"/>
          </a:xfrm>
          <a:prstGeom prst="roundRect">
            <a:avLst>
              <a:gd name="adj" fmla="val 1369"/>
            </a:avLst>
          </a:prstGeom>
          <a:solidFill>
            <a:srgbClr val="F2EEEE"/>
          </a:solidFill>
          <a:ln/>
        </p:spPr>
      </p:sp>
      <p:sp>
        <p:nvSpPr>
          <p:cNvPr id="8" name="Text 6"/>
          <p:cNvSpPr/>
          <p:nvPr/>
        </p:nvSpPr>
        <p:spPr>
          <a:xfrm>
            <a:off x="4754687" y="1552129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300" dirty="0">
                <a:solidFill>
                  <a:srgbClr val="000000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❓</a:t>
            </a:r>
            <a:pPr algn="l" indent="0" marL="0">
              <a:lnSpc>
                <a:spcPct val="104000"/>
              </a:lnSpc>
              <a:buNone/>
            </a:pPr>
            <a:r>
              <a:rPr lang="ko-KR" altLang="en-US" sz="13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 정보가 부족한 경우</a:t>
            </a:r>
            <a:endParaRPr lang="ko-KR" sz="1300" dirty="0"/>
          </a:p>
        </p:txBody>
      </p:sp>
      <p:sp>
        <p:nvSpPr>
          <p:cNvPr id="9" name="Text 7"/>
          <p:cNvSpPr/>
          <p:nvPr/>
        </p:nvSpPr>
        <p:spPr>
          <a:xfrm>
            <a:off x="4754687" y="1819573"/>
            <a:ext cx="3760291" cy="677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450"/>
              </a:spcAft>
              <a:buNone/>
            </a:pPr>
            <a:r>
              <a:rPr lang="ko-KR" alt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설비 ID 또는 알람 코드 없음</a:t>
            </a:r>
            <a:endParaRPr lang="ko-KR" sz="1000" dirty="0"/>
          </a:p>
          <a:p>
            <a:pPr algn="l" indent="0" marL="0">
              <a:lnSpc>
                <a:spcPct val="117000"/>
              </a:lnSpc>
              <a:spcAft>
                <a:spcPts val="450"/>
              </a:spcAft>
              <a:buNone/>
            </a:pPr>
            <a:r>
              <a:rPr lang="ko-KR" alt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→ 추가 질문 생성</a:t>
            </a:r>
            <a:endParaRPr lang="ko-KR" sz="10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ko-KR" alt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→ 사용자에게 재요청</a:t>
            </a:r>
            <a:endParaRPr lang="ko-KR" sz="1000" dirty="0"/>
          </a:p>
        </p:txBody>
      </p:sp>
      <p:sp>
        <p:nvSpPr>
          <p:cNvPr id="10" name="Shape 8"/>
          <p:cNvSpPr/>
          <p:nvPr/>
        </p:nvSpPr>
        <p:spPr>
          <a:xfrm>
            <a:off x="496119" y="2987948"/>
            <a:ext cx="8151763" cy="474985"/>
          </a:xfrm>
          <a:prstGeom prst="roundRect">
            <a:avLst>
              <a:gd name="adj" fmla="val 4197"/>
            </a:avLst>
          </a:prstGeom>
          <a:solidFill>
            <a:srgbClr val="B6D6FC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9022" y="3175843"/>
            <a:ext cx="166092" cy="13290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928018" y="3120777"/>
            <a:ext cx="8044160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💡</a:t>
            </a:r>
            <a:pPr algn="l" indent="0" marL="0">
              <a:lnSpc>
                <a:spcPct val="117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Mermaid 같은 별도 다이어그램을 사용하지 않아도 텍스트 흐름도와 표만으로 충분히 이해할 수 있습니다.</a:t>
            </a:r>
            <a:endParaRPr lang="ko-KR" sz="1000" dirty="0"/>
          </a:p>
        </p:txBody>
      </p:sp>
      <p:sp>
        <p:nvSpPr>
          <p:cNvPr id="13" name="Shape 10"/>
          <p:cNvSpPr/>
          <p:nvPr/>
        </p:nvSpPr>
        <p:spPr>
          <a:xfrm>
            <a:off x="496119" y="3575000"/>
            <a:ext cx="8151763" cy="474985"/>
          </a:xfrm>
          <a:prstGeom prst="roundRect">
            <a:avLst>
              <a:gd name="adj" fmla="val 4197"/>
            </a:avLst>
          </a:prstGeom>
          <a:solidFill>
            <a:srgbClr val="BEF3E2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022" y="3762896"/>
            <a:ext cx="166092" cy="13290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928018" y="3707829"/>
            <a:ext cx="8044160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🔜</a:t>
            </a:r>
            <a:pPr algn="l" indent="0" marL="0">
              <a:lnSpc>
                <a:spcPct val="117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다음 장 예고: 이 흐름을 </a:t>
            </a:r>
            <a:pPr algn="l" indent="0" marL="0">
              <a:lnSpc>
                <a:spcPct val="117000"/>
              </a:lnSpc>
              <a:buNone/>
            </a:pPr>
            <a:r>
              <a:rPr lang="ko-KR" altLang="en-US" sz="1000" b="1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Agent v0</a:t>
            </a:r>
            <a:pPr algn="l" indent="0" marL="0">
              <a:lnSpc>
                <a:spcPct val="117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로 연결합니다.</a:t>
            </a:r>
            <a:endParaRPr lang="ko-KR" sz="1000" dirty="0"/>
          </a:p>
        </p:txBody>
      </p:sp>
      <p:sp>
        <p:nvSpPr>
          <p:cNvPr id="16" name="Shape 12"/>
          <p:cNvSpPr/>
          <p:nvPr/>
        </p:nvSpPr>
        <p:spPr>
          <a:xfrm>
            <a:off x="496119" y="4162053"/>
            <a:ext cx="8151763" cy="474985"/>
          </a:xfrm>
          <a:prstGeom prst="roundRect">
            <a:avLst>
              <a:gd name="adj" fmla="val 4197"/>
            </a:avLst>
          </a:prstGeom>
          <a:solidFill>
            <a:srgbClr val="B6FCB8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022" y="4349948"/>
            <a:ext cx="166092" cy="13290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28018" y="4294882"/>
            <a:ext cx="8044160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📌</a:t>
            </a:r>
            <a:pPr algn="l" indent="0" marL="0">
              <a:lnSpc>
                <a:spcPct val="117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핵심 정리: Graph는 Agent가 질문 상태를 보고 다음 행동을 선택하게 해 주는 구조입니다.</a:t>
            </a:r>
            <a:endParaRPr lang="ko-KR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2294855"/>
            <a:ext cx="8162553" cy="553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34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2.Day1 Agent v0 예제와 Streamlit 실습</a:t>
            </a:r>
            <a:endParaRPr lang="ko-KR" sz="3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25735"/>
            <a:ext cx="3779862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26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Agent v0란 무엇인가</a:t>
            </a:r>
            <a:endParaRPr lang="ko-KR" sz="2600" dirty="0"/>
          </a:p>
        </p:txBody>
      </p:sp>
      <p:sp>
        <p:nvSpPr>
          <p:cNvPr id="3" name="Text 1"/>
          <p:cNvSpPr/>
          <p:nvPr/>
        </p:nvSpPr>
        <p:spPr>
          <a:xfrm>
            <a:off x="496119" y="1140396"/>
            <a:ext cx="8151763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ko-KR" alt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Agent v0는 </a:t>
            </a:r>
            <a:pPr algn="l" indent="0" marL="0">
              <a:lnSpc>
                <a:spcPct val="117000"/>
              </a:lnSpc>
              <a:buNone/>
            </a:pPr>
            <a:r>
              <a:rPr lang="ko-KR" altLang="en-US" sz="100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1일차에 배운 Prompt, Chain, Graph를 연결한 작은 제조 장애 대응 Agent</a:t>
            </a:r>
            <a:pPr algn="l" indent="0" marL="0">
              <a:lnSpc>
                <a:spcPct val="117000"/>
              </a:lnSpc>
              <a:buNone/>
            </a:pPr>
            <a:r>
              <a:rPr lang="ko-KR" alt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입니다. 완성형 Agent는 아니지만, Agent의 기본 아이디어를 담고 있습니다.</a:t>
            </a:r>
            <a:endParaRPr lang="ko-KR" sz="1000" dirty="0"/>
          </a:p>
        </p:txBody>
      </p:sp>
      <p:sp>
        <p:nvSpPr>
          <p:cNvPr id="4" name="Text 2"/>
          <p:cNvSpPr/>
          <p:nvPr/>
        </p:nvSpPr>
        <p:spPr>
          <a:xfrm>
            <a:off x="496119" y="1624533"/>
            <a:ext cx="265807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64646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96119" y="1836093"/>
            <a:ext cx="4026024" cy="14288"/>
          </a:xfrm>
          <a:prstGeom prst="rect">
            <a:avLst/>
          </a:prstGeom>
          <a:solidFill>
            <a:srgbClr val="1C9770"/>
          </a:solidFill>
          <a:ln/>
        </p:spPr>
      </p:sp>
      <p:sp>
        <p:nvSpPr>
          <p:cNvPr id="6" name="Text 4"/>
          <p:cNvSpPr/>
          <p:nvPr/>
        </p:nvSpPr>
        <p:spPr>
          <a:xfrm>
            <a:off x="496119" y="1931119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3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사용자 질문 수신</a:t>
            </a:r>
            <a:endParaRPr lang="ko-KR" sz="1300" dirty="0"/>
          </a:p>
        </p:txBody>
      </p:sp>
      <p:sp>
        <p:nvSpPr>
          <p:cNvPr id="7" name="Text 5"/>
          <p:cNvSpPr/>
          <p:nvPr/>
        </p:nvSpPr>
        <p:spPr>
          <a:xfrm>
            <a:off x="496119" y="2198563"/>
            <a:ext cx="4026024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ko-KR" alt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사용자 질문을 받습니다.</a:t>
            </a:r>
            <a:endParaRPr lang="ko-KR" sz="1000" dirty="0"/>
          </a:p>
        </p:txBody>
      </p:sp>
      <p:sp>
        <p:nvSpPr>
          <p:cNvPr id="8" name="Text 6"/>
          <p:cNvSpPr/>
          <p:nvPr/>
        </p:nvSpPr>
        <p:spPr>
          <a:xfrm>
            <a:off x="4621783" y="1624533"/>
            <a:ext cx="265807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64646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21783" y="1836093"/>
            <a:ext cx="4026098" cy="14288"/>
          </a:xfrm>
          <a:prstGeom prst="rect">
            <a:avLst/>
          </a:prstGeom>
          <a:solidFill>
            <a:srgbClr val="1C9770"/>
          </a:solidFill>
          <a:ln/>
        </p:spPr>
      </p:sp>
      <p:sp>
        <p:nvSpPr>
          <p:cNvPr id="10" name="Text 8"/>
          <p:cNvSpPr/>
          <p:nvPr/>
        </p:nvSpPr>
        <p:spPr>
          <a:xfrm>
            <a:off x="4621783" y="1931119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3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정보 확인</a:t>
            </a:r>
            <a:endParaRPr lang="ko-KR" sz="1300" dirty="0"/>
          </a:p>
        </p:txBody>
      </p:sp>
      <p:sp>
        <p:nvSpPr>
          <p:cNvPr id="11" name="Text 9"/>
          <p:cNvSpPr/>
          <p:nvPr/>
        </p:nvSpPr>
        <p:spPr>
          <a:xfrm>
            <a:off x="4621783" y="2198563"/>
            <a:ext cx="4026098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ko-KR" alt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필요한 정보(설비 ID, 알람 코드)를 확인합니다.</a:t>
            </a:r>
            <a:endParaRPr lang="ko-KR" sz="1000" dirty="0"/>
          </a:p>
        </p:txBody>
      </p:sp>
      <p:sp>
        <p:nvSpPr>
          <p:cNvPr id="12" name="Text 10"/>
          <p:cNvSpPr/>
          <p:nvPr/>
        </p:nvSpPr>
        <p:spPr>
          <a:xfrm>
            <a:off x="496119" y="2583879"/>
            <a:ext cx="265807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64646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03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96119" y="2795439"/>
            <a:ext cx="4026024" cy="14288"/>
          </a:xfrm>
          <a:prstGeom prst="rect">
            <a:avLst/>
          </a:prstGeom>
          <a:solidFill>
            <a:srgbClr val="1C9770"/>
          </a:solidFill>
          <a:ln/>
        </p:spPr>
      </p:sp>
      <p:sp>
        <p:nvSpPr>
          <p:cNvPr id="14" name="Text 12"/>
          <p:cNvSpPr/>
          <p:nvPr/>
        </p:nvSpPr>
        <p:spPr>
          <a:xfrm>
            <a:off x="496119" y="2890465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3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흐름 선택</a:t>
            </a:r>
            <a:endParaRPr lang="ko-KR" sz="1300" dirty="0"/>
          </a:p>
        </p:txBody>
      </p:sp>
      <p:sp>
        <p:nvSpPr>
          <p:cNvPr id="15" name="Text 13"/>
          <p:cNvSpPr/>
          <p:nvPr/>
        </p:nvSpPr>
        <p:spPr>
          <a:xfrm>
            <a:off x="496119" y="3157910"/>
            <a:ext cx="4026024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ko-KR" alt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조건에 따라 흐름을 선택합니다.</a:t>
            </a:r>
            <a:endParaRPr lang="ko-KR" sz="1000" dirty="0"/>
          </a:p>
        </p:txBody>
      </p:sp>
      <p:sp>
        <p:nvSpPr>
          <p:cNvPr id="16" name="Text 14"/>
          <p:cNvSpPr/>
          <p:nvPr/>
        </p:nvSpPr>
        <p:spPr>
          <a:xfrm>
            <a:off x="4621783" y="2583879"/>
            <a:ext cx="265807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64646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04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21783" y="2795439"/>
            <a:ext cx="4026098" cy="14288"/>
          </a:xfrm>
          <a:prstGeom prst="rect">
            <a:avLst/>
          </a:prstGeom>
          <a:solidFill>
            <a:srgbClr val="1C9770"/>
          </a:solidFill>
          <a:ln/>
        </p:spPr>
      </p:sp>
      <p:sp>
        <p:nvSpPr>
          <p:cNvPr id="18" name="Text 16"/>
          <p:cNvSpPr/>
          <p:nvPr/>
        </p:nvSpPr>
        <p:spPr>
          <a:xfrm>
            <a:off x="4621783" y="2890465"/>
            <a:ext cx="1846138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3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Prompt 생성 및 LLM 호출</a:t>
            </a:r>
            <a:endParaRPr lang="ko-KR" sz="1300" dirty="0"/>
          </a:p>
        </p:txBody>
      </p:sp>
      <p:sp>
        <p:nvSpPr>
          <p:cNvPr id="19" name="Text 17"/>
          <p:cNvSpPr/>
          <p:nvPr/>
        </p:nvSpPr>
        <p:spPr>
          <a:xfrm>
            <a:off x="4621783" y="3157910"/>
            <a:ext cx="4026098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ko-KR" alt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Prompt를 만든 뒤 실제 LLM API 호출 흐름으로 응답을 생성합니다.</a:t>
            </a:r>
            <a:endParaRPr lang="ko-KR" sz="1000" dirty="0"/>
          </a:p>
        </p:txBody>
      </p:sp>
      <p:sp>
        <p:nvSpPr>
          <p:cNvPr id="20" name="Shape 18"/>
          <p:cNvSpPr/>
          <p:nvPr/>
        </p:nvSpPr>
        <p:spPr>
          <a:xfrm>
            <a:off x="496119" y="3555653"/>
            <a:ext cx="8151763" cy="474985"/>
          </a:xfrm>
          <a:prstGeom prst="roundRect">
            <a:avLst>
              <a:gd name="adj" fmla="val 4197"/>
            </a:avLst>
          </a:prstGeom>
          <a:solidFill>
            <a:srgbClr val="B6D6FC"/>
          </a:solidFill>
          <a:ln/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9022" y="3743548"/>
            <a:ext cx="166092" cy="132904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928018" y="3688482"/>
            <a:ext cx="8044160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🚗</a:t>
            </a:r>
            <a:pPr algn="l" indent="0" marL="0">
              <a:lnSpc>
                <a:spcPct val="117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자동차 비유: Agent v0는 완성차가 아니라 </a:t>
            </a:r>
            <a:pPr algn="l" indent="0" marL="0">
              <a:lnSpc>
                <a:spcPct val="117000"/>
              </a:lnSpc>
              <a:buNone/>
            </a:pPr>
            <a:r>
              <a:rPr lang="ko-KR" altLang="en-US" sz="1000" b="1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기본 뼈대와 바퀴를 조립한 첫 번째 버전</a:t>
            </a:r>
            <a:pPr algn="l" indent="0" marL="0">
              <a:lnSpc>
                <a:spcPct val="117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입니다.</a:t>
            </a:r>
            <a:endParaRPr lang="ko-KR" sz="1000" dirty="0"/>
          </a:p>
        </p:txBody>
      </p:sp>
      <p:sp>
        <p:nvSpPr>
          <p:cNvPr id="23" name="Shape 20"/>
          <p:cNvSpPr/>
          <p:nvPr/>
        </p:nvSpPr>
        <p:spPr>
          <a:xfrm>
            <a:off x="496119" y="4142705"/>
            <a:ext cx="8151763" cy="474985"/>
          </a:xfrm>
          <a:prstGeom prst="roundRect">
            <a:avLst>
              <a:gd name="adj" fmla="val 4197"/>
            </a:avLst>
          </a:prstGeom>
          <a:solidFill>
            <a:srgbClr val="B6FCB8"/>
          </a:solidFill>
          <a:ln/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022" y="4330601"/>
            <a:ext cx="166092" cy="132904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928018" y="4275534"/>
            <a:ext cx="8044160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📌</a:t>
            </a:r>
            <a:pPr algn="l" indent="0" marL="0">
              <a:lnSpc>
                <a:spcPct val="117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핵심 정리: Agent v0는 복잡한 Agent로 가기 전 가장 작은 실습용 구조입니다.</a:t>
            </a:r>
            <a:endParaRPr lang="ko-KR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21581"/>
            <a:ext cx="355833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24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Agent v0 구성 요소</a:t>
            </a:r>
            <a:endParaRPr lang="ko-KR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182737"/>
            <a:ext cx="8608963" cy="168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ko-KR" alt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Agent v0는 질문을 바로 답으로 바꾸는 것이 아니라 </a:t>
            </a:r>
            <a:pPr algn="l" indent="0" marL="0">
              <a:lnSpc>
                <a:spcPct val="113000"/>
              </a:lnSpc>
              <a:buNone/>
            </a:pPr>
            <a:r>
              <a:rPr lang="ko-KR" altLang="en-US" sz="9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여러 단계를 거쳐 업무 결과를 만듭니다.</a:t>
            </a:r>
            <a:endParaRPr lang="ko-KR" sz="950" dirty="0"/>
          </a:p>
        </p:txBody>
      </p:sp>
      <p:sp>
        <p:nvSpPr>
          <p:cNvPr id="4" name="Shape 2"/>
          <p:cNvSpPr/>
          <p:nvPr/>
        </p:nvSpPr>
        <p:spPr>
          <a:xfrm>
            <a:off x="496119" y="1449065"/>
            <a:ext cx="8151763" cy="2014910"/>
          </a:xfrm>
          <a:prstGeom prst="roundRect">
            <a:avLst>
              <a:gd name="adj" fmla="val 923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4855" y="1510680"/>
            <a:ext cx="4277990" cy="168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ko-KR" altLang="en-US" sz="9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구성 요소</a:t>
            </a:r>
            <a:endParaRPr lang="ko-KR" sz="950" dirty="0"/>
          </a:p>
        </p:txBody>
      </p:sp>
      <p:sp>
        <p:nvSpPr>
          <p:cNvPr id="6" name="Text 4"/>
          <p:cNvSpPr/>
          <p:nvPr/>
        </p:nvSpPr>
        <p:spPr>
          <a:xfrm>
            <a:off x="4698355" y="1510680"/>
            <a:ext cx="4277990" cy="168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ko-KR" altLang="en-US" sz="9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역할</a:t>
            </a:r>
            <a:endParaRPr lang="ko-KR" sz="950" dirty="0"/>
          </a:p>
        </p:txBody>
      </p:sp>
      <p:sp>
        <p:nvSpPr>
          <p:cNvPr id="7" name="Text 5"/>
          <p:cNvSpPr/>
          <p:nvPr/>
        </p:nvSpPr>
        <p:spPr>
          <a:xfrm>
            <a:off x="624855" y="1797844"/>
            <a:ext cx="4277990" cy="168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ko-KR" alt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사용자 질문</a:t>
            </a:r>
            <a:endParaRPr lang="ko-KR" sz="950" dirty="0"/>
          </a:p>
        </p:txBody>
      </p:sp>
      <p:sp>
        <p:nvSpPr>
          <p:cNvPr id="8" name="Text 6"/>
          <p:cNvSpPr/>
          <p:nvPr/>
        </p:nvSpPr>
        <p:spPr>
          <a:xfrm>
            <a:off x="4698355" y="1797844"/>
            <a:ext cx="4277990" cy="168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ko-KR" alt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Agent가 처리할 첫 입력입니다.</a:t>
            </a:r>
            <a:endParaRPr lang="ko-KR" sz="950" dirty="0"/>
          </a:p>
        </p:txBody>
      </p:sp>
      <p:sp>
        <p:nvSpPr>
          <p:cNvPr id="9" name="Text 7"/>
          <p:cNvSpPr/>
          <p:nvPr/>
        </p:nvSpPr>
        <p:spPr>
          <a:xfrm>
            <a:off x="624855" y="2085008"/>
            <a:ext cx="4277990" cy="168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ko-KR" alt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알람 코드 확인</a:t>
            </a:r>
            <a:endParaRPr lang="ko-KR" sz="950" dirty="0"/>
          </a:p>
        </p:txBody>
      </p:sp>
      <p:sp>
        <p:nvSpPr>
          <p:cNvPr id="10" name="Text 8"/>
          <p:cNvSpPr/>
          <p:nvPr/>
        </p:nvSpPr>
        <p:spPr>
          <a:xfrm>
            <a:off x="4698355" y="2085008"/>
            <a:ext cx="4277990" cy="168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ko-KR" alt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설비 ID와 알람 코드가 있는지 봅니다.</a:t>
            </a:r>
            <a:endParaRPr lang="ko-KR" sz="950" dirty="0"/>
          </a:p>
        </p:txBody>
      </p:sp>
      <p:sp>
        <p:nvSpPr>
          <p:cNvPr id="11" name="Text 9"/>
          <p:cNvSpPr/>
          <p:nvPr/>
        </p:nvSpPr>
        <p:spPr>
          <a:xfrm>
            <a:off x="624855" y="2372171"/>
            <a:ext cx="4277990" cy="168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ko-KR" alt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로그/매뉴얼 조회</a:t>
            </a:r>
            <a:endParaRPr lang="ko-KR" sz="950" dirty="0"/>
          </a:p>
        </p:txBody>
      </p:sp>
      <p:sp>
        <p:nvSpPr>
          <p:cNvPr id="12" name="Text 10"/>
          <p:cNvSpPr/>
          <p:nvPr/>
        </p:nvSpPr>
        <p:spPr>
          <a:xfrm>
            <a:off x="4698355" y="2372171"/>
            <a:ext cx="4277990" cy="168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ko-KR" alt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관련 로그와 문서 근거를 찾습니다.</a:t>
            </a:r>
            <a:endParaRPr lang="ko-KR" sz="950" dirty="0"/>
          </a:p>
        </p:txBody>
      </p:sp>
      <p:sp>
        <p:nvSpPr>
          <p:cNvPr id="13" name="Text 11"/>
          <p:cNvSpPr/>
          <p:nvPr/>
        </p:nvSpPr>
        <p:spPr>
          <a:xfrm>
            <a:off x="624855" y="2659335"/>
            <a:ext cx="4277990" cy="168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ko-KR" alt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Prompt 생성</a:t>
            </a:r>
            <a:endParaRPr lang="ko-KR" sz="950" dirty="0"/>
          </a:p>
        </p:txBody>
      </p:sp>
      <p:sp>
        <p:nvSpPr>
          <p:cNvPr id="14" name="Text 12"/>
          <p:cNvSpPr/>
          <p:nvPr/>
        </p:nvSpPr>
        <p:spPr>
          <a:xfrm>
            <a:off x="4698355" y="2659335"/>
            <a:ext cx="4277990" cy="168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ko-KR" alt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LLM에게 전달할 작업 지시문을 만듭니다.</a:t>
            </a:r>
            <a:endParaRPr lang="ko-KR" sz="950" dirty="0"/>
          </a:p>
        </p:txBody>
      </p:sp>
      <p:sp>
        <p:nvSpPr>
          <p:cNvPr id="15" name="Text 13"/>
          <p:cNvSpPr/>
          <p:nvPr/>
        </p:nvSpPr>
        <p:spPr>
          <a:xfrm>
            <a:off x="624855" y="2946499"/>
            <a:ext cx="4277990" cy="168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ko-KR" alt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실제 LLM API 호출</a:t>
            </a:r>
            <a:endParaRPr lang="ko-KR" sz="950" dirty="0"/>
          </a:p>
        </p:txBody>
      </p:sp>
      <p:sp>
        <p:nvSpPr>
          <p:cNvPr id="16" name="Text 14"/>
          <p:cNvSpPr/>
          <p:nvPr/>
        </p:nvSpPr>
        <p:spPr>
          <a:xfrm>
            <a:off x="4698355" y="2946499"/>
            <a:ext cx="4277990" cy="168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ko-KR" alt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Prompt를 LLM에 보내 응답을 받습니다.</a:t>
            </a:r>
            <a:endParaRPr lang="ko-KR" sz="950" dirty="0"/>
          </a:p>
        </p:txBody>
      </p:sp>
      <p:sp>
        <p:nvSpPr>
          <p:cNvPr id="17" name="Text 15"/>
          <p:cNvSpPr/>
          <p:nvPr/>
        </p:nvSpPr>
        <p:spPr>
          <a:xfrm>
            <a:off x="624855" y="3233663"/>
            <a:ext cx="4277990" cy="168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ko-KR" alt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결과 출력</a:t>
            </a:r>
            <a:endParaRPr lang="ko-KR" sz="950" dirty="0"/>
          </a:p>
        </p:txBody>
      </p:sp>
      <p:sp>
        <p:nvSpPr>
          <p:cNvPr id="18" name="Text 16"/>
          <p:cNvSpPr/>
          <p:nvPr/>
        </p:nvSpPr>
        <p:spPr>
          <a:xfrm>
            <a:off x="4698355" y="3233663"/>
            <a:ext cx="4277990" cy="168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ko-KR" alt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사용자가 볼 수 있는 결과로 정리합니다.</a:t>
            </a:r>
            <a:endParaRPr lang="ko-KR" sz="950" dirty="0"/>
          </a:p>
        </p:txBody>
      </p:sp>
      <p:sp>
        <p:nvSpPr>
          <p:cNvPr id="19" name="Shape 17"/>
          <p:cNvSpPr/>
          <p:nvPr/>
        </p:nvSpPr>
        <p:spPr>
          <a:xfrm>
            <a:off x="496119" y="3561606"/>
            <a:ext cx="8151763" cy="431304"/>
          </a:xfrm>
          <a:prstGeom prst="roundRect">
            <a:avLst>
              <a:gd name="adj" fmla="val 4314"/>
            </a:avLst>
          </a:prstGeom>
          <a:solidFill>
            <a:srgbClr val="B6D6FC"/>
          </a:solidFill>
          <a:ln/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0092" y="3736628"/>
            <a:ext cx="155004" cy="123974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899071" y="3679329"/>
            <a:ext cx="8082037" cy="173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ko-KR" altLang="en-US" sz="9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💡</a:t>
            </a:r>
            <a:pPr algn="l" indent="0" marL="0">
              <a:lnSpc>
                <a:spcPct val="113000"/>
              </a:lnSpc>
              <a:buNone/>
            </a:pPr>
            <a:r>
              <a:rPr lang="ko-KR" altLang="en-US" sz="9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</a:t>
            </a:r>
            <a:pPr algn="l" indent="0" marL="0">
              <a:lnSpc>
                <a:spcPct val="113000"/>
              </a:lnSpc>
              <a:buNone/>
            </a:pPr>
            <a:r>
              <a:rPr lang="ko-KR" altLang="en-US" sz="950" b="1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업무 조교 비유:</a:t>
            </a:r>
            <a:pPr algn="l" indent="0" marL="0">
              <a:lnSpc>
                <a:spcPct val="113000"/>
              </a:lnSpc>
              <a:buNone/>
            </a:pPr>
            <a:r>
              <a:rPr lang="ko-KR" altLang="en-US" sz="9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Agent v0는 자료를 찾아 정리하는 업무 조교처럼, 단계별로 일을 처리한 뒤 최종 결과를 전달합니다.</a:t>
            </a:r>
            <a:endParaRPr lang="ko-KR" sz="950" dirty="0"/>
          </a:p>
        </p:txBody>
      </p:sp>
      <p:sp>
        <p:nvSpPr>
          <p:cNvPr id="22" name="Shape 19"/>
          <p:cNvSpPr/>
          <p:nvPr/>
        </p:nvSpPr>
        <p:spPr>
          <a:xfrm>
            <a:off x="496119" y="4090541"/>
            <a:ext cx="8151763" cy="431304"/>
          </a:xfrm>
          <a:prstGeom prst="roundRect">
            <a:avLst>
              <a:gd name="adj" fmla="val 4314"/>
            </a:avLst>
          </a:prstGeom>
          <a:solidFill>
            <a:srgbClr val="B6FCB8"/>
          </a:solidFill>
          <a:ln/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092" y="4265563"/>
            <a:ext cx="155004" cy="123974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899071" y="4208264"/>
            <a:ext cx="8082037" cy="173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ko-KR" altLang="en-US" sz="9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📌</a:t>
            </a:r>
            <a:pPr algn="l" indent="0" marL="0">
              <a:lnSpc>
                <a:spcPct val="113000"/>
              </a:lnSpc>
              <a:buNone/>
            </a:pPr>
            <a:r>
              <a:rPr lang="ko-KR" altLang="en-US" sz="9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핵심 정리: Agent v0는 질문을 바로 답으로 바꾸는 것이 아니라 여러 단계를 거쳐 업무 결과를 만듭니다.</a:t>
            </a:r>
            <a:endParaRPr lang="ko-KR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7623" y="394246"/>
            <a:ext cx="2706886" cy="2811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7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Agent v0 실행 흐름</a:t>
            </a:r>
            <a:endParaRPr lang="ko-KR" sz="1750" dirty="0"/>
          </a:p>
        </p:txBody>
      </p:sp>
      <p:sp>
        <p:nvSpPr>
          <p:cNvPr id="3" name="Text 1"/>
          <p:cNvSpPr/>
          <p:nvPr/>
        </p:nvSpPr>
        <p:spPr>
          <a:xfrm>
            <a:off x="387623" y="766762"/>
            <a:ext cx="8756377" cy="108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ko-KR" altLang="en-US" sz="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Agent v0의 실행 흐름은 </a:t>
            </a:r>
            <a:pPr algn="l" indent="0" marL="0">
              <a:lnSpc>
                <a:spcPct val="101000"/>
              </a:lnSpc>
              <a:buNone/>
            </a:pPr>
            <a:r>
              <a:rPr lang="ko-KR" altLang="en-US" sz="70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1일차 실습을 하나로 묶은 형태</a:t>
            </a:r>
            <a:pPr algn="l" indent="0" marL="0">
              <a:lnSpc>
                <a:spcPct val="101000"/>
              </a:lnSpc>
              <a:buNone/>
            </a:pPr>
            <a:r>
              <a:rPr lang="ko-KR" altLang="en-US" sz="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입니다.</a:t>
            </a:r>
            <a:endParaRPr lang="ko-KR" sz="7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52166" y="926604"/>
            <a:ext cx="5439668" cy="244785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442949" y="1057283"/>
            <a:ext cx="1180542" cy="1471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ko-KR" altLang="en-US" sz="9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입력읽기</a:t>
            </a:r>
            <a:endParaRPr lang="ko-KR" sz="900" dirty="0"/>
          </a:p>
        </p:txBody>
      </p:sp>
      <p:sp>
        <p:nvSpPr>
          <p:cNvPr id="6" name="Text 3"/>
          <p:cNvSpPr/>
          <p:nvPr/>
        </p:nvSpPr>
        <p:spPr>
          <a:xfrm>
            <a:off x="2671549" y="1246234"/>
            <a:ext cx="951942" cy="1773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79000"/>
              </a:lnSpc>
              <a:buNone/>
            </a:pPr>
            <a:r>
              <a:rPr lang="ko-KR" altLang="en-US" sz="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sample_query.json에서 요청 읽기</a:t>
            </a:r>
            <a:endParaRPr lang="ko-KR" sz="700" dirty="0"/>
          </a:p>
        </p:txBody>
      </p:sp>
      <p:sp>
        <p:nvSpPr>
          <p:cNvPr id="7" name="Text 4"/>
          <p:cNvSpPr/>
          <p:nvPr/>
        </p:nvSpPr>
        <p:spPr>
          <a:xfrm>
            <a:off x="3384430" y="2937467"/>
            <a:ext cx="1185772" cy="147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ko-KR" altLang="en-US" sz="9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알람확인</a:t>
            </a:r>
            <a:endParaRPr lang="ko-KR" sz="900" dirty="0"/>
          </a:p>
        </p:txBody>
      </p:sp>
      <p:sp>
        <p:nvSpPr>
          <p:cNvPr id="8" name="Text 5"/>
          <p:cNvSpPr/>
          <p:nvPr/>
        </p:nvSpPr>
        <p:spPr>
          <a:xfrm>
            <a:off x="3384430" y="3126417"/>
            <a:ext cx="1185772" cy="886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79000"/>
              </a:lnSpc>
              <a:buNone/>
            </a:pPr>
            <a:r>
              <a:rPr lang="ko-KR" altLang="en-US" sz="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알람 코드 및 상태 점검</a:t>
            </a:r>
            <a:endParaRPr lang="ko-KR" sz="700" dirty="0"/>
          </a:p>
        </p:txBody>
      </p:sp>
      <p:sp>
        <p:nvSpPr>
          <p:cNvPr id="9" name="Text 6"/>
          <p:cNvSpPr/>
          <p:nvPr/>
        </p:nvSpPr>
        <p:spPr>
          <a:xfrm>
            <a:off x="4315450" y="1038977"/>
            <a:ext cx="1180542" cy="1471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ko-KR" altLang="en-US" sz="9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로그참조</a:t>
            </a:r>
            <a:endParaRPr lang="ko-KR" sz="900" dirty="0"/>
          </a:p>
        </p:txBody>
      </p:sp>
      <p:sp>
        <p:nvSpPr>
          <p:cNvPr id="10" name="Text 7"/>
          <p:cNvSpPr/>
          <p:nvPr/>
        </p:nvSpPr>
        <p:spPr>
          <a:xfrm>
            <a:off x="4544050" y="1227927"/>
            <a:ext cx="951942" cy="1773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79000"/>
              </a:lnSpc>
              <a:buNone/>
            </a:pPr>
            <a:r>
              <a:rPr lang="ko-KR" altLang="en-US" sz="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sample_alarm_logs 및 매뉴얼 확인</a:t>
            </a:r>
            <a:endParaRPr lang="ko-KR" sz="700" dirty="0"/>
          </a:p>
        </p:txBody>
      </p:sp>
      <p:sp>
        <p:nvSpPr>
          <p:cNvPr id="11" name="Text 8"/>
          <p:cNvSpPr/>
          <p:nvPr/>
        </p:nvSpPr>
        <p:spPr>
          <a:xfrm>
            <a:off x="5256931" y="2893171"/>
            <a:ext cx="1180542" cy="1471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ko-KR" altLang="en-US" sz="9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프롬프트생성</a:t>
            </a:r>
            <a:endParaRPr lang="ko-KR" sz="900" dirty="0"/>
          </a:p>
        </p:txBody>
      </p:sp>
      <p:sp>
        <p:nvSpPr>
          <p:cNvPr id="12" name="Text 9"/>
          <p:cNvSpPr/>
          <p:nvPr/>
        </p:nvSpPr>
        <p:spPr>
          <a:xfrm>
            <a:off x="5485531" y="3082121"/>
            <a:ext cx="951942" cy="1773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79000"/>
              </a:lnSpc>
              <a:buNone/>
            </a:pPr>
            <a:r>
              <a:rPr lang="ko-KR" altLang="en-US" sz="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LLM 호출용 프롬프트 구성</a:t>
            </a:r>
            <a:endParaRPr lang="ko-KR" sz="700" dirty="0"/>
          </a:p>
        </p:txBody>
      </p:sp>
      <p:sp>
        <p:nvSpPr>
          <p:cNvPr id="13" name="Shape 10"/>
          <p:cNvSpPr/>
          <p:nvPr/>
        </p:nvSpPr>
        <p:spPr>
          <a:xfrm>
            <a:off x="387623" y="3425800"/>
            <a:ext cx="4161532" cy="480268"/>
          </a:xfrm>
          <a:prstGeom prst="roundRect">
            <a:avLst>
              <a:gd name="adj" fmla="val 9520"/>
            </a:avLst>
          </a:prstGeom>
          <a:solidFill>
            <a:srgbClr val="FFFFFF"/>
          </a:solidFill>
          <a:ln w="9525">
            <a:solidFill>
              <a:srgbClr val="D8D4D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78098" y="3425800"/>
            <a:ext cx="38100" cy="480268"/>
          </a:xfrm>
          <a:prstGeom prst="roundRect">
            <a:avLst>
              <a:gd name="adj" fmla="val 35429"/>
            </a:avLst>
          </a:prstGeom>
          <a:solidFill>
            <a:srgbClr val="1C9770"/>
          </a:solidFill>
          <a:ln/>
        </p:spPr>
      </p:sp>
      <p:sp>
        <p:nvSpPr>
          <p:cNvPr id="15" name="Text 12"/>
          <p:cNvSpPr/>
          <p:nvPr/>
        </p:nvSpPr>
        <p:spPr>
          <a:xfrm>
            <a:off x="515689" y="3525292"/>
            <a:ext cx="1124843" cy="1406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📂</a:t>
            </a:r>
            <a:pPr algn="l" indent="0" marL="0">
              <a:lnSpc>
                <a:spcPct val="104000"/>
              </a:lnSpc>
              <a:buNone/>
            </a:pPr>
            <a:r>
              <a:rPr lang="ko-KR" altLang="en-US" sz="8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 입력 파일</a:t>
            </a:r>
            <a:endParaRPr lang="ko-KR" sz="850" dirty="0"/>
          </a:p>
        </p:txBody>
      </p:sp>
      <p:sp>
        <p:nvSpPr>
          <p:cNvPr id="16" name="Text 13"/>
          <p:cNvSpPr/>
          <p:nvPr/>
        </p:nvSpPr>
        <p:spPr>
          <a:xfrm>
            <a:off x="515689" y="3693319"/>
            <a:ext cx="3933974" cy="1132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ko-KR" altLang="en-US" sz="700" dirty="0">
                <a:solidFill>
                  <a:srgbClr val="46464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sample_query.json</a:t>
            </a:r>
            <a:pPr algn="l" indent="0" marL="0">
              <a:lnSpc>
                <a:spcPct val="101000"/>
              </a:lnSpc>
              <a:buNone/>
            </a:pPr>
            <a:r>
              <a:rPr lang="ko-KR" altLang="en-US" sz="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에서 사용자 요청을 읽습니다.</a:t>
            </a:r>
            <a:endParaRPr lang="ko-KR" sz="700" dirty="0"/>
          </a:p>
        </p:txBody>
      </p:sp>
      <p:sp>
        <p:nvSpPr>
          <p:cNvPr id="17" name="Shape 14"/>
          <p:cNvSpPr/>
          <p:nvPr/>
        </p:nvSpPr>
        <p:spPr>
          <a:xfrm>
            <a:off x="4594845" y="3425800"/>
            <a:ext cx="4161532" cy="480268"/>
          </a:xfrm>
          <a:prstGeom prst="roundRect">
            <a:avLst>
              <a:gd name="adj" fmla="val 9520"/>
            </a:avLst>
          </a:prstGeom>
          <a:solidFill>
            <a:srgbClr val="FFFFFF"/>
          </a:solidFill>
          <a:ln w="9525">
            <a:solidFill>
              <a:srgbClr val="D8D4D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585320" y="3425800"/>
            <a:ext cx="38100" cy="480268"/>
          </a:xfrm>
          <a:prstGeom prst="roundRect">
            <a:avLst>
              <a:gd name="adj" fmla="val 35429"/>
            </a:avLst>
          </a:prstGeom>
          <a:solidFill>
            <a:srgbClr val="1C9770"/>
          </a:solidFill>
          <a:ln/>
        </p:spPr>
      </p:sp>
      <p:sp>
        <p:nvSpPr>
          <p:cNvPr id="19" name="Text 16"/>
          <p:cNvSpPr/>
          <p:nvPr/>
        </p:nvSpPr>
        <p:spPr>
          <a:xfrm>
            <a:off x="4722912" y="3525292"/>
            <a:ext cx="1124843" cy="1406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🔍</a:t>
            </a:r>
            <a:pPr algn="l" indent="0" marL="0">
              <a:lnSpc>
                <a:spcPct val="104000"/>
              </a:lnSpc>
              <a:buNone/>
            </a:pPr>
            <a:r>
              <a:rPr lang="ko-KR" altLang="en-US" sz="8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 조회 파일</a:t>
            </a:r>
            <a:endParaRPr lang="ko-KR" sz="850" dirty="0"/>
          </a:p>
        </p:txBody>
      </p:sp>
      <p:sp>
        <p:nvSpPr>
          <p:cNvPr id="20" name="Text 17"/>
          <p:cNvSpPr/>
          <p:nvPr/>
        </p:nvSpPr>
        <p:spPr>
          <a:xfrm>
            <a:off x="4722912" y="3693319"/>
            <a:ext cx="3933974" cy="1132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ko-KR" altLang="en-US" sz="700" dirty="0">
                <a:solidFill>
                  <a:srgbClr val="46464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sample_alarm_logs.csv</a:t>
            </a:r>
            <a:pPr algn="l" indent="0" marL="0">
              <a:lnSpc>
                <a:spcPct val="101000"/>
              </a:lnSpc>
              <a:buNone/>
            </a:pPr>
            <a:r>
              <a:rPr lang="ko-KR" altLang="en-US" sz="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와 </a:t>
            </a:r>
            <a:pPr algn="l" indent="0" marL="0">
              <a:lnSpc>
                <a:spcPct val="101000"/>
              </a:lnSpc>
              <a:buNone/>
            </a:pPr>
            <a:r>
              <a:rPr lang="ko-KR" altLang="en-US" sz="700" dirty="0">
                <a:solidFill>
                  <a:srgbClr val="46464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alarm_manual.md</a:t>
            </a:r>
            <a:pPr algn="l" indent="0" marL="0">
              <a:lnSpc>
                <a:spcPct val="101000"/>
              </a:lnSpc>
              <a:buNone/>
            </a:pPr>
            <a:r>
              <a:rPr lang="ko-KR" altLang="en-US" sz="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를 참고합니다.</a:t>
            </a:r>
            <a:endParaRPr lang="ko-KR" sz="700" dirty="0"/>
          </a:p>
        </p:txBody>
      </p:sp>
      <p:sp>
        <p:nvSpPr>
          <p:cNvPr id="21" name="Shape 18"/>
          <p:cNvSpPr/>
          <p:nvPr/>
        </p:nvSpPr>
        <p:spPr>
          <a:xfrm>
            <a:off x="387623" y="3951759"/>
            <a:ext cx="4161532" cy="480268"/>
          </a:xfrm>
          <a:prstGeom prst="roundRect">
            <a:avLst>
              <a:gd name="adj" fmla="val 9520"/>
            </a:avLst>
          </a:prstGeom>
          <a:solidFill>
            <a:srgbClr val="FFFFFF"/>
          </a:solidFill>
          <a:ln w="9525">
            <a:solidFill>
              <a:srgbClr val="D8D4D4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78098" y="3951759"/>
            <a:ext cx="38100" cy="480268"/>
          </a:xfrm>
          <a:prstGeom prst="roundRect">
            <a:avLst>
              <a:gd name="adj" fmla="val 35429"/>
            </a:avLst>
          </a:prstGeom>
          <a:solidFill>
            <a:srgbClr val="1C9770"/>
          </a:solidFill>
          <a:ln/>
        </p:spPr>
      </p:sp>
      <p:sp>
        <p:nvSpPr>
          <p:cNvPr id="23" name="Text 20"/>
          <p:cNvSpPr/>
          <p:nvPr/>
        </p:nvSpPr>
        <p:spPr>
          <a:xfrm>
            <a:off x="515689" y="4051250"/>
            <a:ext cx="1124843" cy="1406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🤖</a:t>
            </a:r>
            <a:pPr algn="l" indent="0" marL="0">
              <a:lnSpc>
                <a:spcPct val="104000"/>
              </a:lnSpc>
              <a:buNone/>
            </a:pPr>
            <a:r>
              <a:rPr lang="ko-KR" altLang="en-US" sz="8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 LLM 호출</a:t>
            </a:r>
            <a:endParaRPr lang="ko-KR" sz="850" dirty="0"/>
          </a:p>
        </p:txBody>
      </p:sp>
      <p:sp>
        <p:nvSpPr>
          <p:cNvPr id="24" name="Text 21"/>
          <p:cNvSpPr/>
          <p:nvPr/>
        </p:nvSpPr>
        <p:spPr>
          <a:xfrm>
            <a:off x="515689" y="4219277"/>
            <a:ext cx="3933974" cy="1132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ko-KR" altLang="en-US" sz="700" dirty="0">
                <a:solidFill>
                  <a:srgbClr val="46464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llm_client.py</a:t>
            </a:r>
            <a:pPr algn="l" indent="0" marL="0">
              <a:lnSpc>
                <a:spcPct val="101000"/>
              </a:lnSpc>
              <a:buNone/>
            </a:pPr>
            <a:r>
              <a:rPr lang="ko-KR" altLang="en-US" sz="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의 </a:t>
            </a:r>
            <a:pPr algn="l" indent="0" marL="0">
              <a:lnSpc>
                <a:spcPct val="101000"/>
              </a:lnSpc>
              <a:buNone/>
            </a:pPr>
            <a:r>
              <a:rPr lang="ko-KR" altLang="en-US" sz="700" dirty="0">
                <a:solidFill>
                  <a:srgbClr val="46464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generate_response(prompt)</a:t>
            </a:r>
            <a:pPr algn="l" indent="0" marL="0">
              <a:lnSpc>
                <a:spcPct val="101000"/>
              </a:lnSpc>
              <a:buNone/>
            </a:pPr>
            <a:r>
              <a:rPr lang="ko-KR" altLang="en-US" sz="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를 통해 LLM 응답을 받습니다.</a:t>
            </a:r>
            <a:endParaRPr lang="ko-KR" sz="700" dirty="0"/>
          </a:p>
        </p:txBody>
      </p:sp>
      <p:sp>
        <p:nvSpPr>
          <p:cNvPr id="25" name="Shape 22"/>
          <p:cNvSpPr/>
          <p:nvPr/>
        </p:nvSpPr>
        <p:spPr>
          <a:xfrm>
            <a:off x="4594845" y="3951759"/>
            <a:ext cx="4161532" cy="480268"/>
          </a:xfrm>
          <a:prstGeom prst="roundRect">
            <a:avLst>
              <a:gd name="adj" fmla="val 9520"/>
            </a:avLst>
          </a:prstGeom>
          <a:solidFill>
            <a:srgbClr val="FFFFFF"/>
          </a:solidFill>
          <a:ln w="9525">
            <a:solidFill>
              <a:srgbClr val="D8D4D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585320" y="3951759"/>
            <a:ext cx="38100" cy="480268"/>
          </a:xfrm>
          <a:prstGeom prst="roundRect">
            <a:avLst>
              <a:gd name="adj" fmla="val 35429"/>
            </a:avLst>
          </a:prstGeom>
          <a:solidFill>
            <a:srgbClr val="1C9770"/>
          </a:solidFill>
          <a:ln/>
        </p:spPr>
      </p:sp>
      <p:sp>
        <p:nvSpPr>
          <p:cNvPr id="27" name="Text 24"/>
          <p:cNvSpPr/>
          <p:nvPr/>
        </p:nvSpPr>
        <p:spPr>
          <a:xfrm>
            <a:off x="4722912" y="4051250"/>
            <a:ext cx="1124843" cy="1406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💾</a:t>
            </a:r>
            <a:pPr algn="l" indent="0" marL="0">
              <a:lnSpc>
                <a:spcPct val="104000"/>
              </a:lnSpc>
              <a:buNone/>
            </a:pPr>
            <a:r>
              <a:rPr lang="ko-KR" altLang="en-US" sz="8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 결과 저장</a:t>
            </a:r>
            <a:endParaRPr lang="ko-KR" sz="850" dirty="0"/>
          </a:p>
        </p:txBody>
      </p:sp>
      <p:sp>
        <p:nvSpPr>
          <p:cNvPr id="28" name="Text 25"/>
          <p:cNvSpPr/>
          <p:nvPr/>
        </p:nvSpPr>
        <p:spPr>
          <a:xfrm>
            <a:off x="4722912" y="4219277"/>
            <a:ext cx="3933974" cy="1132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ko-KR" altLang="en-US" sz="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결과와 Trace를 </a:t>
            </a:r>
            <a:pPr algn="l" indent="0" marL="0">
              <a:lnSpc>
                <a:spcPct val="101000"/>
              </a:lnSpc>
              <a:buNone/>
            </a:pPr>
            <a:r>
              <a:rPr lang="ko-KR" altLang="en-US" sz="700" dirty="0">
                <a:solidFill>
                  <a:srgbClr val="46464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outputs/day1</a:t>
            </a:r>
            <a:pPr algn="l" indent="0" marL="0">
              <a:lnSpc>
                <a:spcPct val="101000"/>
              </a:lnSpc>
              <a:buNone/>
            </a:pPr>
            <a:r>
              <a:rPr lang="ko-KR" altLang="en-US" sz="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에 저장합니다.</a:t>
            </a:r>
            <a:endParaRPr lang="ko-KR" sz="700" dirty="0"/>
          </a:p>
        </p:txBody>
      </p:sp>
      <p:sp>
        <p:nvSpPr>
          <p:cNvPr id="29" name="Shape 26"/>
          <p:cNvSpPr/>
          <p:nvPr/>
        </p:nvSpPr>
        <p:spPr>
          <a:xfrm>
            <a:off x="387623" y="4483373"/>
            <a:ext cx="8368754" cy="265881"/>
          </a:xfrm>
          <a:prstGeom prst="roundRect">
            <a:avLst>
              <a:gd name="adj" fmla="val 5077"/>
            </a:avLst>
          </a:prstGeom>
          <a:solidFill>
            <a:srgbClr val="B6FCB8"/>
          </a:solidFill>
          <a:ln/>
        </p:spPr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589" y="4598045"/>
            <a:ext cx="112440" cy="89967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679996" y="4551536"/>
            <a:ext cx="8443615" cy="108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ko-KR" altLang="en-US" sz="70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📌</a:t>
            </a:r>
            <a:pPr algn="l" indent="0" marL="0">
              <a:lnSpc>
                <a:spcPct val="101000"/>
              </a:lnSpc>
              <a:buNone/>
            </a:pPr>
            <a:r>
              <a:rPr lang="ko-KR" altLang="en-US" sz="70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핵심 정리: Agent v0는 입력, 판단, 조회, Prompt, LLM 응답, 저장을 연결한 흐름입니다.</a:t>
            </a:r>
            <a:endParaRPr lang="ko-KR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30362"/>
            <a:ext cx="5695727" cy="3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22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day1_agent_v0_template.py 선택 실행</a:t>
            </a:r>
            <a:endParaRPr lang="ko-KR" sz="2250" dirty="0"/>
          </a:p>
        </p:txBody>
      </p:sp>
      <p:sp>
        <p:nvSpPr>
          <p:cNvPr id="3" name="Text 1"/>
          <p:cNvSpPr/>
          <p:nvPr/>
        </p:nvSpPr>
        <p:spPr>
          <a:xfrm>
            <a:off x="496119" y="1140023"/>
            <a:ext cx="8608963" cy="161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ko-KR" altLang="en-US" sz="900" dirty="0">
                <a:solidFill>
                  <a:srgbClr val="46464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src/day1/day1_agent_v0_template.py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는 Agent v0 전체 흐름을 보여주는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90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선택 실습 또는 강사 데모용 파일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입니다. 모든 수강생이 반드시 직접 수정할 필요는 없습니다.</a:t>
            </a:r>
            <a:endParaRPr lang="ko-KR" sz="900" dirty="0"/>
          </a:p>
        </p:txBody>
      </p:sp>
      <p:sp>
        <p:nvSpPr>
          <p:cNvPr id="4" name="Text 2"/>
          <p:cNvSpPr/>
          <p:nvPr/>
        </p:nvSpPr>
        <p:spPr>
          <a:xfrm>
            <a:off x="496119" y="1460599"/>
            <a:ext cx="18969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100" dirty="0">
                <a:solidFill>
                  <a:srgbClr val="000000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📋</a:t>
            </a:r>
            <a:pPr algn="l" indent="0" marL="0">
              <a:lnSpc>
                <a:spcPct val="104000"/>
              </a:lnSpc>
              <a:buNone/>
            </a:pPr>
            <a:r>
              <a:rPr lang="ko-KR" altLang="en-US" sz="11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 권장 학습 순서</a:t>
            </a:r>
            <a:endParaRPr lang="ko-KR" sz="1100" dirty="0"/>
          </a:p>
        </p:txBody>
      </p:sp>
      <p:sp>
        <p:nvSpPr>
          <p:cNvPr id="5" name="Shape 3"/>
          <p:cNvSpPr/>
          <p:nvPr/>
        </p:nvSpPr>
        <p:spPr>
          <a:xfrm>
            <a:off x="496119" y="1724695"/>
            <a:ext cx="259110" cy="259110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6" name="Text 4"/>
          <p:cNvSpPr/>
          <p:nvPr/>
        </p:nvSpPr>
        <p:spPr>
          <a:xfrm>
            <a:off x="539316" y="1746275"/>
            <a:ext cx="172715" cy="2159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1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30089" y="1764283"/>
            <a:ext cx="14397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first_sample_run.py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30089" y="2019077"/>
            <a:ext cx="3601417" cy="1520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ko-KR" alt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가장 작은 흐름을 먼저 이해합니다.</a:t>
            </a:r>
            <a:endParaRPr lang="ko-KR" sz="900" dirty="0"/>
          </a:p>
        </p:txBody>
      </p:sp>
      <p:sp>
        <p:nvSpPr>
          <p:cNvPr id="9" name="Shape 7"/>
          <p:cNvSpPr/>
          <p:nvPr/>
        </p:nvSpPr>
        <p:spPr>
          <a:xfrm>
            <a:off x="496119" y="2320826"/>
            <a:ext cx="259110" cy="259110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10" name="Text 8"/>
          <p:cNvSpPr/>
          <p:nvPr/>
        </p:nvSpPr>
        <p:spPr>
          <a:xfrm>
            <a:off x="539316" y="2342406"/>
            <a:ext cx="172715" cy="2159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2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30089" y="2360414"/>
            <a:ext cx="1718816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simple_chain_starter.py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30089" y="2615208"/>
            <a:ext cx="3601417" cy="1520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ko-KR" alt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Chain 흐름을 이해합니다.</a:t>
            </a:r>
            <a:endParaRPr lang="ko-KR" sz="900" dirty="0"/>
          </a:p>
        </p:txBody>
      </p:sp>
      <p:sp>
        <p:nvSpPr>
          <p:cNvPr id="13" name="Shape 11"/>
          <p:cNvSpPr/>
          <p:nvPr/>
        </p:nvSpPr>
        <p:spPr>
          <a:xfrm>
            <a:off x="496119" y="2916957"/>
            <a:ext cx="259110" cy="259110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14" name="Text 12"/>
          <p:cNvSpPr/>
          <p:nvPr/>
        </p:nvSpPr>
        <p:spPr>
          <a:xfrm>
            <a:off x="539316" y="2938537"/>
            <a:ext cx="172715" cy="2159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3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30089" y="2956545"/>
            <a:ext cx="1563439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mini_graph_runner.py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30089" y="3211339"/>
            <a:ext cx="3601417" cy="1520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ko-KR" alt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조건 분기 흐름을 이해합니다.</a:t>
            </a:r>
            <a:endParaRPr lang="ko-KR" sz="900" dirty="0"/>
          </a:p>
        </p:txBody>
      </p:sp>
      <p:sp>
        <p:nvSpPr>
          <p:cNvPr id="17" name="Shape 15"/>
          <p:cNvSpPr/>
          <p:nvPr/>
        </p:nvSpPr>
        <p:spPr>
          <a:xfrm>
            <a:off x="496119" y="3513088"/>
            <a:ext cx="259110" cy="259110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</p:sp>
      <p:sp>
        <p:nvSpPr>
          <p:cNvPr id="18" name="Text 16"/>
          <p:cNvSpPr/>
          <p:nvPr/>
        </p:nvSpPr>
        <p:spPr>
          <a:xfrm>
            <a:off x="539316" y="3534668"/>
            <a:ext cx="172715" cy="2159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4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30089" y="3552676"/>
            <a:ext cx="2018779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day1_agent_v0_template.py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30089" y="3807470"/>
            <a:ext cx="3601417" cy="1520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ko-KR" alt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전체 구조를 한눈에 확인합니다.</a:t>
            </a:r>
            <a:endParaRPr lang="ko-KR" sz="900" dirty="0"/>
          </a:p>
        </p:txBody>
      </p:sp>
      <p:sp>
        <p:nvSpPr>
          <p:cNvPr id="21" name="Shape 19"/>
          <p:cNvSpPr/>
          <p:nvPr/>
        </p:nvSpPr>
        <p:spPr>
          <a:xfrm>
            <a:off x="4634285" y="1385739"/>
            <a:ext cx="4101331" cy="2657921"/>
          </a:xfrm>
          <a:prstGeom prst="roundRect">
            <a:avLst>
              <a:gd name="adj" fmla="val 650"/>
            </a:avLst>
          </a:prstGeom>
          <a:solidFill>
            <a:srgbClr val="4950BC"/>
          </a:solidFill>
          <a:ln/>
        </p:spPr>
      </p:sp>
      <p:sp>
        <p:nvSpPr>
          <p:cNvPr id="22" name="Text 20"/>
          <p:cNvSpPr/>
          <p:nvPr/>
        </p:nvSpPr>
        <p:spPr>
          <a:xfrm>
            <a:off x="4749403" y="1460599"/>
            <a:ext cx="18969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100" dirty="0">
                <a:solidFill>
                  <a:srgbClr val="000000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🖥️</a:t>
            </a:r>
            <a:pPr algn="l" indent="0" marL="0">
              <a:lnSpc>
                <a:spcPct val="104000"/>
              </a:lnSpc>
              <a:buNone/>
            </a:pPr>
            <a:r>
              <a:rPr lang="ko-KR" altLang="en-US" sz="110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 실행 명령어</a:t>
            </a:r>
            <a:endParaRPr lang="ko-KR" sz="1100" dirty="0"/>
          </a:p>
        </p:txBody>
      </p:sp>
      <p:sp>
        <p:nvSpPr>
          <p:cNvPr id="23" name="Shape 21"/>
          <p:cNvSpPr/>
          <p:nvPr/>
        </p:nvSpPr>
        <p:spPr>
          <a:xfrm>
            <a:off x="4749403" y="1724695"/>
            <a:ext cx="3871094" cy="382265"/>
          </a:xfrm>
          <a:prstGeom prst="roundRect">
            <a:avLst>
              <a:gd name="adj" fmla="val 4520"/>
            </a:avLst>
          </a:prstGeom>
          <a:solidFill>
            <a:srgbClr val="565DC9"/>
          </a:solidFill>
          <a:ln/>
        </p:spPr>
      </p:sp>
      <p:sp>
        <p:nvSpPr>
          <p:cNvPr id="24" name="Shape 22"/>
          <p:cNvSpPr/>
          <p:nvPr/>
        </p:nvSpPr>
        <p:spPr>
          <a:xfrm>
            <a:off x="4743673" y="1724695"/>
            <a:ext cx="3882554" cy="382265"/>
          </a:xfrm>
          <a:prstGeom prst="roundRect">
            <a:avLst>
              <a:gd name="adj" fmla="val 4520"/>
            </a:avLst>
          </a:prstGeom>
          <a:solidFill>
            <a:srgbClr val="565DC9"/>
          </a:solidFill>
          <a:ln/>
        </p:spPr>
      </p:sp>
      <p:sp>
        <p:nvSpPr>
          <p:cNvPr id="25" name="Text 23"/>
          <p:cNvSpPr/>
          <p:nvPr/>
        </p:nvSpPr>
        <p:spPr>
          <a:xfrm>
            <a:off x="4887590" y="1839813"/>
            <a:ext cx="4051920" cy="1520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FFFFFF"/>
                </a:solidFill>
                <a:highlight>
                  <a:srgbClr val="565DC9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python src/day1/day1_agent_v0_template.py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749403" y="2191122"/>
            <a:ext cx="4328294" cy="1520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ko-KR" altLang="en-US" sz="90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프로젝트 루트 폴더에서 실행합니다.</a:t>
            </a:r>
            <a:endParaRPr lang="ko-KR" sz="900" dirty="0"/>
          </a:p>
        </p:txBody>
      </p:sp>
      <p:sp>
        <p:nvSpPr>
          <p:cNvPr id="27" name="Shape 25"/>
          <p:cNvSpPr/>
          <p:nvPr/>
        </p:nvSpPr>
        <p:spPr>
          <a:xfrm>
            <a:off x="496119" y="4127822"/>
            <a:ext cx="8151763" cy="385242"/>
          </a:xfrm>
          <a:prstGeom prst="roundRect">
            <a:avLst>
              <a:gd name="adj" fmla="val 4485"/>
            </a:avLst>
          </a:prstGeom>
          <a:solidFill>
            <a:srgbClr val="B6FCB8"/>
          </a:solidFill>
          <a:ln/>
        </p:spPr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1237" y="4285208"/>
            <a:ext cx="143917" cy="115119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870272" y="4231407"/>
            <a:ext cx="8119690" cy="1567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📌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핵심 정리: 이 파일은 1일차 조각 실습을 하나로 연결해 보는 종합 예시입니다.</a:t>
            </a:r>
            <a:endParaRPr lang="ko-KR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4132" y="457051"/>
            <a:ext cx="297686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9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실행 결과 해석</a:t>
            </a:r>
            <a:endParaRPr lang="ko-KR" sz="1950" dirty="0"/>
          </a:p>
        </p:txBody>
      </p:sp>
      <p:sp>
        <p:nvSpPr>
          <p:cNvPr id="3" name="Text 1"/>
          <p:cNvSpPr/>
          <p:nvPr/>
        </p:nvSpPr>
        <p:spPr>
          <a:xfrm>
            <a:off x="434132" y="886569"/>
            <a:ext cx="8709868" cy="135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ko-KR" altLang="en-US" sz="750" dirty="0">
                <a:solidFill>
                  <a:srgbClr val="46464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day1_agent_v0_template.py</a:t>
            </a:r>
            <a:pPr algn="l" indent="0" marL="0">
              <a:lnSpc>
                <a:spcPct val="105000"/>
              </a:lnSpc>
              <a:buNone/>
            </a:pPr>
            <a:r>
              <a:rPr lang="ko-KR" altLang="en-US" sz="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를 실행하면 Agent v0가 </a:t>
            </a:r>
            <a:pPr algn="l" indent="0" marL="0">
              <a:lnSpc>
                <a:spcPct val="105000"/>
              </a:lnSpc>
              <a:buNone/>
            </a:pPr>
            <a:r>
              <a:rPr lang="ko-KR" altLang="en-US" sz="7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어떤 단계를 거쳤는지</a:t>
            </a:r>
            <a:pPr algn="l" indent="0" marL="0">
              <a:lnSpc>
                <a:spcPct val="105000"/>
              </a:lnSpc>
              <a:buNone/>
            </a:pPr>
            <a:r>
              <a:rPr lang="ko-KR" altLang="en-US" sz="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확인할 수 있습니다. 결과 파일은 </a:t>
            </a:r>
            <a:pPr algn="l" indent="0" marL="0">
              <a:lnSpc>
                <a:spcPct val="105000"/>
              </a:lnSpc>
              <a:buNone/>
            </a:pPr>
            <a:r>
              <a:rPr lang="ko-KR" altLang="en-US" sz="750" dirty="0">
                <a:solidFill>
                  <a:srgbClr val="46464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outputs/day1</a:t>
            </a:r>
            <a:pPr algn="l" indent="0" marL="0">
              <a:lnSpc>
                <a:spcPct val="105000"/>
              </a:lnSpc>
              <a:buNone/>
            </a:pPr>
            <a:r>
              <a:rPr lang="ko-KR" altLang="en-US" sz="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폴더에 저장될 수 있습니다.</a:t>
            </a:r>
            <a:endParaRPr lang="ko-KR" sz="750" dirty="0"/>
          </a:p>
        </p:txBody>
      </p:sp>
      <p:sp>
        <p:nvSpPr>
          <p:cNvPr id="4" name="Shape 2"/>
          <p:cNvSpPr/>
          <p:nvPr/>
        </p:nvSpPr>
        <p:spPr>
          <a:xfrm>
            <a:off x="434132" y="1086966"/>
            <a:ext cx="4109219" cy="524545"/>
          </a:xfrm>
          <a:prstGeom prst="roundRect">
            <a:avLst>
              <a:gd name="adj" fmla="val 2882"/>
            </a:avLst>
          </a:prstGeom>
          <a:solidFill>
            <a:srgbClr val="F2EEEE"/>
          </a:solidFill>
          <a:ln/>
        </p:spPr>
      </p:sp>
      <p:sp>
        <p:nvSpPr>
          <p:cNvPr id="5" name="Text 3"/>
          <p:cNvSpPr/>
          <p:nvPr/>
        </p:nvSpPr>
        <p:spPr>
          <a:xfrm>
            <a:off x="534888" y="1187723"/>
            <a:ext cx="1798513" cy="162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📄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 day1_agent_v0_result.md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34888" y="1384325"/>
            <a:ext cx="3907706" cy="126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ko-KR" altLang="en-US" sz="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최종 결과를 보여줍니다.</a:t>
            </a:r>
            <a:endParaRPr lang="ko-KR" sz="750" dirty="0"/>
          </a:p>
        </p:txBody>
      </p:sp>
      <p:sp>
        <p:nvSpPr>
          <p:cNvPr id="7" name="Shape 5"/>
          <p:cNvSpPr/>
          <p:nvPr/>
        </p:nvSpPr>
        <p:spPr>
          <a:xfrm>
            <a:off x="4600649" y="1086966"/>
            <a:ext cx="4109219" cy="524545"/>
          </a:xfrm>
          <a:prstGeom prst="roundRect">
            <a:avLst>
              <a:gd name="adj" fmla="val 2882"/>
            </a:avLst>
          </a:prstGeom>
          <a:solidFill>
            <a:srgbClr val="F2EEEE"/>
          </a:solidFill>
          <a:ln/>
        </p:spPr>
      </p:sp>
      <p:sp>
        <p:nvSpPr>
          <p:cNvPr id="8" name="Text 6"/>
          <p:cNvSpPr/>
          <p:nvPr/>
        </p:nvSpPr>
        <p:spPr>
          <a:xfrm>
            <a:off x="4701406" y="1187723"/>
            <a:ext cx="1773362" cy="162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🔍</a:t>
            </a:r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 day1_agent_v0_trace.md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701406" y="1384325"/>
            <a:ext cx="3907706" cy="126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ko-KR" altLang="en-US" sz="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어떤 Node를 거쳤는지 보여줍니다.</a:t>
            </a:r>
            <a:endParaRPr lang="ko-KR" sz="750" dirty="0"/>
          </a:p>
        </p:txBody>
      </p:sp>
      <p:sp>
        <p:nvSpPr>
          <p:cNvPr id="10" name="Text 8"/>
          <p:cNvSpPr/>
          <p:nvPr/>
        </p:nvSpPr>
        <p:spPr>
          <a:xfrm>
            <a:off x="434132" y="1697459"/>
            <a:ext cx="2000845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9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결과를 볼 때 확인해야 할 항목</a:t>
            </a:r>
            <a:endParaRPr lang="ko-KR" sz="95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1934" y="1945891"/>
            <a:ext cx="151135" cy="151135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61628" y="1940868"/>
            <a:ext cx="7948240" cy="126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ko-KR" altLang="en-US" sz="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입력값이 무엇이었는지 확인합니다.</a:t>
            </a:r>
            <a:endParaRPr lang="ko-KR" sz="75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1934" y="2367818"/>
            <a:ext cx="151135" cy="15113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61628" y="2362795"/>
            <a:ext cx="7948240" cy="126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ko-KR" altLang="en-US" sz="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로그 조회가 이루어졌는지 확인합니다.</a:t>
            </a:r>
            <a:endParaRPr lang="ko-KR" sz="75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1934" y="2789746"/>
            <a:ext cx="151135" cy="15113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61628" y="2784723"/>
            <a:ext cx="7948240" cy="126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ko-KR" altLang="en-US" sz="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매뉴얼 참고 여부를 확인합니다.</a:t>
            </a:r>
            <a:endParaRPr lang="ko-KR" sz="7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1934" y="3211674"/>
            <a:ext cx="151135" cy="15113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61628" y="3206651"/>
            <a:ext cx="7948240" cy="126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ko-KR" altLang="en-US" sz="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Prompt 생성 여부를 확인합니다.</a:t>
            </a:r>
            <a:endParaRPr lang="ko-KR" sz="75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71934" y="3633601"/>
            <a:ext cx="151135" cy="151135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761628" y="3628579"/>
            <a:ext cx="7948240" cy="126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ko-KR" altLang="en-US" sz="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조건 분기 경로가 어떻게 결정되었는지 확인합니다.</a:t>
            </a:r>
            <a:endParaRPr lang="ko-KR" sz="750" dirty="0"/>
          </a:p>
        </p:txBody>
      </p:sp>
      <p:sp>
        <p:nvSpPr>
          <p:cNvPr id="21" name="Shape 14"/>
          <p:cNvSpPr/>
          <p:nvPr/>
        </p:nvSpPr>
        <p:spPr>
          <a:xfrm>
            <a:off x="434132" y="4000351"/>
            <a:ext cx="8275737" cy="310828"/>
          </a:xfrm>
          <a:prstGeom prst="roundRect">
            <a:avLst>
              <a:gd name="adj" fmla="val 4864"/>
            </a:avLst>
          </a:prstGeom>
          <a:solidFill>
            <a:srgbClr val="FCF2B5"/>
          </a:solidFill>
          <a:ln/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4888" y="4133329"/>
            <a:ext cx="125983" cy="100757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761628" y="4082802"/>
            <a:ext cx="8304684" cy="126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ko-KR" altLang="en-US" sz="7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⚠️</a:t>
            </a:r>
            <a:pPr algn="l" indent="0" marL="0">
              <a:lnSpc>
                <a:spcPct val="105000"/>
              </a:lnSpc>
              <a:buNone/>
            </a:pPr>
            <a:r>
              <a:rPr lang="ko-KR" altLang="en-US" sz="7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LLM 응답만 보지 말고 </a:t>
            </a:r>
            <a:pPr algn="l" indent="0" marL="0">
              <a:lnSpc>
                <a:spcPct val="105000"/>
              </a:lnSpc>
              <a:buNone/>
            </a:pPr>
            <a:r>
              <a:rPr lang="ko-KR" altLang="en-US" sz="750" b="1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입력값과 실행 과정을 함께</a:t>
            </a:r>
            <a:pPr algn="l" indent="0" marL="0">
              <a:lnSpc>
                <a:spcPct val="105000"/>
              </a:lnSpc>
              <a:buNone/>
            </a:pPr>
            <a:r>
              <a:rPr lang="ko-KR" altLang="en-US" sz="7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확인해야 합니다.</a:t>
            </a:r>
            <a:endParaRPr lang="ko-KR" sz="750" dirty="0"/>
          </a:p>
        </p:txBody>
      </p:sp>
      <p:sp>
        <p:nvSpPr>
          <p:cNvPr id="24" name="Shape 16"/>
          <p:cNvSpPr/>
          <p:nvPr/>
        </p:nvSpPr>
        <p:spPr>
          <a:xfrm>
            <a:off x="434132" y="4375621"/>
            <a:ext cx="8275737" cy="310828"/>
          </a:xfrm>
          <a:prstGeom prst="roundRect">
            <a:avLst>
              <a:gd name="adj" fmla="val 4864"/>
            </a:avLst>
          </a:prstGeom>
          <a:solidFill>
            <a:srgbClr val="B6FCB8"/>
          </a:solidFill>
          <a:ln/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34888" y="4508599"/>
            <a:ext cx="125983" cy="100757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761628" y="4458072"/>
            <a:ext cx="8304684" cy="126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ko-KR" altLang="en-US" sz="7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📌</a:t>
            </a:r>
            <a:pPr algn="l" indent="0" marL="0">
              <a:lnSpc>
                <a:spcPct val="105000"/>
              </a:lnSpc>
              <a:buNone/>
            </a:pPr>
            <a:r>
              <a:rPr lang="ko-KR" altLang="en-US" sz="7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핵심 정리: Agent 결과는 최종 답변과 실행 과정을 함께 봐야 제대로 이해할 수 있습니다.</a:t>
            </a:r>
            <a:endParaRPr lang="ko-KR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24483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27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Streamlit  실습 개요</a:t>
            </a:r>
            <a:endParaRPr lang="ko-KR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294284"/>
            <a:ext cx="8151763" cy="408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ko-KR" alt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Streamlit은 </a:t>
            </a:r>
            <a:pPr algn="l" indent="0" marL="0">
              <a:lnSpc>
                <a:spcPct val="120000"/>
              </a:lnSpc>
              <a:buNone/>
            </a:pPr>
            <a:r>
              <a:rPr lang="ko-KR" altLang="en-US" sz="110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Python 실행 결과를 웹 화면으로 보여주는 도구</a:t>
            </a:r>
            <a:pPr algn="l" indent="0" marL="0">
              <a:lnSpc>
                <a:spcPct val="120000"/>
              </a:lnSpc>
              <a:buNone/>
            </a:pPr>
            <a:r>
              <a:rPr lang="ko-KR" alt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입니다. 1일차에서는 CLI 실행 흐름을 눈으로 확인하기 위한 보조 화면으로 사용합니다.</a:t>
            </a:r>
            <a:endParaRPr lang="ko-KR" sz="1100" dirty="0"/>
          </a:p>
        </p:txBody>
      </p:sp>
      <p:sp>
        <p:nvSpPr>
          <p:cNvPr id="4" name="Shape 2"/>
          <p:cNvSpPr/>
          <p:nvPr/>
        </p:nvSpPr>
        <p:spPr>
          <a:xfrm>
            <a:off x="394022" y="1830065"/>
            <a:ext cx="4107135" cy="1372642"/>
          </a:xfrm>
          <a:prstGeom prst="roundRect">
            <a:avLst>
              <a:gd name="adj" fmla="val 1549"/>
            </a:avLst>
          </a:prstGeom>
          <a:solidFill>
            <a:srgbClr val="4950BC"/>
          </a:solidFill>
          <a:ln/>
        </p:spPr>
      </p:sp>
      <p:sp>
        <p:nvSpPr>
          <p:cNvPr id="5" name="Text 3"/>
          <p:cNvSpPr/>
          <p:nvPr/>
        </p:nvSpPr>
        <p:spPr>
          <a:xfrm>
            <a:off x="535781" y="1943472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35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Streamlit의 역할</a:t>
            </a:r>
            <a:endParaRPr lang="ko-KR" sz="1350" dirty="0"/>
          </a:p>
        </p:txBody>
      </p:sp>
      <p:sp>
        <p:nvSpPr>
          <p:cNvPr id="6" name="Text 4"/>
          <p:cNvSpPr/>
          <p:nvPr/>
        </p:nvSpPr>
        <p:spPr>
          <a:xfrm>
            <a:off x="535781" y="2278335"/>
            <a:ext cx="3823618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ko-KR" altLang="en-US" sz="110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Streamlit이 Agent의 핵심 로직을 새로 만드는 것은 </a:t>
            </a:r>
            <a:pPr algn="l"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아닙니다.</a:t>
            </a:r>
            <a:endParaRPr lang="ko-KR" sz="11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ko-KR" altLang="en-US" sz="110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기존 CLI 실습 흐름을 수강생이 더 쉽게 볼 수 있도록 </a:t>
            </a:r>
            <a:pPr algn="l" indent="0" marL="0">
              <a:lnSpc>
                <a:spcPct val="120000"/>
              </a:lnSpc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화면으로 보여주는 역할</a:t>
            </a:r>
            <a:pPr algn="l" indent="0" marL="0">
              <a:lnSpc>
                <a:spcPct val="120000"/>
              </a:lnSpc>
              <a:buNone/>
            </a:pPr>
            <a:r>
              <a:rPr lang="ko-KR" altLang="en-US" sz="110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입니다.</a:t>
            </a:r>
            <a:endParaRPr lang="ko-KR" sz="1100" dirty="0"/>
          </a:p>
        </p:txBody>
      </p:sp>
      <p:sp>
        <p:nvSpPr>
          <p:cNvPr id="7" name="Text 5"/>
          <p:cNvSpPr/>
          <p:nvPr/>
        </p:nvSpPr>
        <p:spPr>
          <a:xfrm>
            <a:off x="4749701" y="1943472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3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보조 실습 파일 목록</a:t>
            </a:r>
            <a:endParaRPr lang="ko-KR" sz="1350" dirty="0"/>
          </a:p>
        </p:txBody>
      </p:sp>
      <p:sp>
        <p:nvSpPr>
          <p:cNvPr id="8" name="Text 6"/>
          <p:cNvSpPr/>
          <p:nvPr/>
        </p:nvSpPr>
        <p:spPr>
          <a:xfrm>
            <a:off x="4749701" y="2278335"/>
            <a:ext cx="3902943" cy="884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ko-KR" altLang="en-US" sz="1100" dirty="0">
                <a:solidFill>
                  <a:srgbClr val="46464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mini_graph_streamlit_app.py</a:t>
            </a:r>
            <a:endParaRPr lang="ko-KR" sz="1100" dirty="0"/>
          </a:p>
          <a:p>
            <a:pPr algn="l" marL="342900" indent="-342900">
              <a:lnSpc>
                <a:spcPct val="120000"/>
              </a:lnSpc>
              <a:buSzPct val="100000"/>
              <a:buChar char="​"/>
            </a:pPr>
            <a:r>
              <a:rPr lang="ko-KR" alt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Graph 흐름을 화면에서 확인합니다.</a:t>
            </a:r>
            <a:endParaRPr lang="ko-KR" sz="11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ko-KR" altLang="en-US" sz="1100" dirty="0">
                <a:solidFill>
                  <a:srgbClr val="46464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day1_agent_v0_streamlit_app.py</a:t>
            </a:r>
            <a:endParaRPr lang="ko-KR" sz="1100" dirty="0"/>
          </a:p>
          <a:p>
            <a:pPr algn="l" marL="342900" indent="-342900">
              <a:lnSpc>
                <a:spcPct val="120000"/>
              </a:lnSpc>
              <a:buSzPct val="100000"/>
              <a:buChar char="​"/>
            </a:pPr>
            <a:r>
              <a:rPr lang="ko-KR" alt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Agent v0 흐름을 화면에서 확인합니다.</a:t>
            </a:r>
            <a:endParaRPr lang="ko-KR" sz="1100" dirty="0"/>
          </a:p>
        </p:txBody>
      </p:sp>
      <p:sp>
        <p:nvSpPr>
          <p:cNvPr id="9" name="Shape 7"/>
          <p:cNvSpPr/>
          <p:nvPr/>
        </p:nvSpPr>
        <p:spPr>
          <a:xfrm>
            <a:off x="496119" y="3330253"/>
            <a:ext cx="8151763" cy="530572"/>
          </a:xfrm>
          <a:prstGeom prst="roundRect">
            <a:avLst>
              <a:gd name="adj" fmla="val 4008"/>
            </a:avLst>
          </a:prstGeom>
          <a:solidFill>
            <a:srgbClr val="B6D6FC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7877" y="3535784"/>
            <a:ext cx="177180" cy="141759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56816" y="3479081"/>
            <a:ext cx="8006507" cy="208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ko-KR" altLang="en-US" sz="110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💡</a:t>
            </a:r>
            <a:pPr algn="l" indent="0" marL="0">
              <a:lnSpc>
                <a:spcPct val="120000"/>
              </a:lnSpc>
              <a:buNone/>
            </a:pPr>
            <a:r>
              <a:rPr lang="ko-KR" altLang="en-US" sz="110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Streamlit은 이해를 돕는 </a:t>
            </a:r>
            <a:pPr algn="l" indent="0" marL="0">
              <a:lnSpc>
                <a:spcPct val="120000"/>
              </a:lnSpc>
              <a:buNone/>
            </a:pPr>
            <a:r>
              <a:rPr lang="ko-KR" altLang="en-US" sz="1100" b="1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보조 화면</a:t>
            </a:r>
            <a:pPr algn="l" indent="0" marL="0">
              <a:lnSpc>
                <a:spcPct val="120000"/>
              </a:lnSpc>
              <a:buNone/>
            </a:pPr>
            <a:r>
              <a:rPr lang="ko-KR" altLang="en-US" sz="110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입니다. Agent의 핵심 로직은 CLI 실습 파일에 있습니다.</a:t>
            </a:r>
            <a:endParaRPr lang="ko-KR" sz="1100" dirty="0"/>
          </a:p>
        </p:txBody>
      </p:sp>
      <p:sp>
        <p:nvSpPr>
          <p:cNvPr id="12" name="Shape 9"/>
          <p:cNvSpPr/>
          <p:nvPr/>
        </p:nvSpPr>
        <p:spPr>
          <a:xfrm>
            <a:off x="496119" y="3988371"/>
            <a:ext cx="8151763" cy="530572"/>
          </a:xfrm>
          <a:prstGeom prst="roundRect">
            <a:avLst>
              <a:gd name="adj" fmla="val 4008"/>
            </a:avLst>
          </a:prstGeom>
          <a:solidFill>
            <a:srgbClr val="B6FCB8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877" y="4193902"/>
            <a:ext cx="177180" cy="14175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956816" y="4137199"/>
            <a:ext cx="8006507" cy="208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ko-KR" altLang="en-US" sz="110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📌</a:t>
            </a:r>
            <a:pPr algn="l" indent="0" marL="0">
              <a:lnSpc>
                <a:spcPct val="120000"/>
              </a:lnSpc>
              <a:buNone/>
            </a:pPr>
            <a:r>
              <a:rPr lang="ko-KR" altLang="en-US" sz="110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핵심 정리: Streamlit은 이해를 돕는 보조 화면입니다.</a:t>
            </a:r>
            <a:endParaRPr lang="ko-KR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2901" y="473571"/>
            <a:ext cx="3201814" cy="343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21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Streamlit 실행 명령어</a:t>
            </a:r>
            <a:endParaRPr lang="ko-KR" sz="2150" dirty="0"/>
          </a:p>
        </p:txBody>
      </p:sp>
      <p:sp>
        <p:nvSpPr>
          <p:cNvPr id="3" name="Text 1"/>
          <p:cNvSpPr/>
          <p:nvPr/>
        </p:nvSpPr>
        <p:spPr>
          <a:xfrm>
            <a:off x="472901" y="952649"/>
            <a:ext cx="8655397" cy="142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ko-KR" alt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Streamlit 보조 실습은 </a:t>
            </a:r>
            <a:pPr algn="l" indent="0" marL="0">
              <a:lnSpc>
                <a:spcPct val="108000"/>
              </a:lnSpc>
              <a:buNone/>
            </a:pPr>
            <a:r>
              <a:rPr lang="ko-KR" altLang="en-US" sz="8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선택적으로 실행</a:t>
            </a:r>
            <a:pPr algn="l" indent="0" marL="0">
              <a:lnSpc>
                <a:spcPct val="108000"/>
              </a:lnSpc>
              <a:buNone/>
            </a:pPr>
            <a:r>
              <a:rPr lang="ko-KR" alt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합니다. PowerShell에서 프로젝트 루트 폴더로 이동한 뒤 실행합니다.</a:t>
            </a:r>
            <a:endParaRPr lang="ko-KR" sz="850" dirty="0"/>
          </a:p>
        </p:txBody>
      </p:sp>
      <p:sp>
        <p:nvSpPr>
          <p:cNvPr id="4" name="Shape 2"/>
          <p:cNvSpPr/>
          <p:nvPr/>
        </p:nvSpPr>
        <p:spPr>
          <a:xfrm>
            <a:off x="472901" y="1171352"/>
            <a:ext cx="8198197" cy="353616"/>
          </a:xfrm>
          <a:prstGeom prst="roundRect">
            <a:avLst>
              <a:gd name="adj" fmla="val 4657"/>
            </a:avLst>
          </a:prstGeom>
          <a:solidFill>
            <a:srgbClr val="BEF3E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2662" y="1317203"/>
            <a:ext cx="137220" cy="10976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9642" y="1266751"/>
            <a:ext cx="8188896" cy="142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🖥️</a:t>
            </a:r>
            <a:pPr algn="l" indent="0" marL="0">
              <a:lnSpc>
                <a:spcPct val="108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Graph 흐름 화면 확인</a:t>
            </a:r>
            <a:endParaRPr lang="ko-KR" sz="850" dirty="0"/>
          </a:p>
        </p:txBody>
      </p:sp>
      <p:sp>
        <p:nvSpPr>
          <p:cNvPr id="7" name="Shape 4"/>
          <p:cNvSpPr/>
          <p:nvPr/>
        </p:nvSpPr>
        <p:spPr>
          <a:xfrm>
            <a:off x="472901" y="1601465"/>
            <a:ext cx="8198197" cy="361727"/>
          </a:xfrm>
          <a:prstGeom prst="roundRect">
            <a:avLst>
              <a:gd name="adj" fmla="val 4553"/>
            </a:avLst>
          </a:prstGeom>
          <a:solidFill>
            <a:srgbClr val="F2F2F2"/>
          </a:solidFill>
          <a:ln/>
        </p:spPr>
      </p:sp>
      <p:sp>
        <p:nvSpPr>
          <p:cNvPr id="8" name="Shape 5"/>
          <p:cNvSpPr/>
          <p:nvPr/>
        </p:nvSpPr>
        <p:spPr>
          <a:xfrm>
            <a:off x="467469" y="1601465"/>
            <a:ext cx="8209062" cy="361727"/>
          </a:xfrm>
          <a:prstGeom prst="roundRect">
            <a:avLst>
              <a:gd name="adj" fmla="val 4553"/>
            </a:avLst>
          </a:prstGeom>
          <a:solidFill>
            <a:srgbClr val="F2F2F2"/>
          </a:solidFill>
          <a:ln/>
        </p:spPr>
      </p:sp>
      <p:sp>
        <p:nvSpPr>
          <p:cNvPr id="9" name="Text 6"/>
          <p:cNvSpPr/>
          <p:nvPr/>
        </p:nvSpPr>
        <p:spPr>
          <a:xfrm>
            <a:off x="604689" y="1711226"/>
            <a:ext cx="8391823" cy="142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464646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streamlit run src/day1/mini_graph_streamlit_app.py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472901" y="2039689"/>
            <a:ext cx="8198197" cy="353616"/>
          </a:xfrm>
          <a:prstGeom prst="roundRect">
            <a:avLst>
              <a:gd name="adj" fmla="val 4657"/>
            </a:avLst>
          </a:prstGeom>
          <a:solidFill>
            <a:srgbClr val="BEF3E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662" y="2185541"/>
            <a:ext cx="137220" cy="10976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29642" y="2135088"/>
            <a:ext cx="8188896" cy="142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🖥️</a:t>
            </a:r>
            <a:pPr algn="l" indent="0" marL="0">
              <a:lnSpc>
                <a:spcPct val="108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Agent v0 흐름 화면 확인</a:t>
            </a:r>
            <a:endParaRPr lang="ko-KR" sz="850" dirty="0"/>
          </a:p>
        </p:txBody>
      </p:sp>
      <p:sp>
        <p:nvSpPr>
          <p:cNvPr id="13" name="Shape 9"/>
          <p:cNvSpPr/>
          <p:nvPr/>
        </p:nvSpPr>
        <p:spPr>
          <a:xfrm>
            <a:off x="472901" y="2469803"/>
            <a:ext cx="8198197" cy="361727"/>
          </a:xfrm>
          <a:prstGeom prst="roundRect">
            <a:avLst>
              <a:gd name="adj" fmla="val 4553"/>
            </a:avLst>
          </a:prstGeom>
          <a:solidFill>
            <a:srgbClr val="F2F2F2"/>
          </a:solidFill>
          <a:ln/>
        </p:spPr>
      </p:sp>
      <p:sp>
        <p:nvSpPr>
          <p:cNvPr id="14" name="Shape 10"/>
          <p:cNvSpPr/>
          <p:nvPr/>
        </p:nvSpPr>
        <p:spPr>
          <a:xfrm>
            <a:off x="467469" y="2469803"/>
            <a:ext cx="8209062" cy="361727"/>
          </a:xfrm>
          <a:prstGeom prst="roundRect">
            <a:avLst>
              <a:gd name="adj" fmla="val 4553"/>
            </a:avLst>
          </a:prstGeom>
          <a:solidFill>
            <a:srgbClr val="F2F2F2"/>
          </a:solidFill>
          <a:ln/>
        </p:spPr>
      </p:sp>
      <p:sp>
        <p:nvSpPr>
          <p:cNvPr id="15" name="Text 11"/>
          <p:cNvSpPr/>
          <p:nvPr/>
        </p:nvSpPr>
        <p:spPr>
          <a:xfrm>
            <a:off x="604689" y="2579563"/>
            <a:ext cx="8391823" cy="142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464646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streamlit run src/day1/day1_agent_v0_streamlit_app.py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472901" y="2933551"/>
            <a:ext cx="1978968" cy="171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0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추가로 사용할 수 있는 파일</a:t>
            </a:r>
            <a:endParaRPr lang="ko-KR" sz="1050" dirty="0"/>
          </a:p>
        </p:txBody>
      </p:sp>
      <p:sp>
        <p:nvSpPr>
          <p:cNvPr id="17" name="Shape 13"/>
          <p:cNvSpPr/>
          <p:nvPr/>
        </p:nvSpPr>
        <p:spPr>
          <a:xfrm>
            <a:off x="472901" y="3207097"/>
            <a:ext cx="4065091" cy="602605"/>
          </a:xfrm>
          <a:prstGeom prst="roundRect">
            <a:avLst>
              <a:gd name="adj" fmla="val 2733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96950" y="3331146"/>
            <a:ext cx="2140074" cy="171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simple_chain_streamlit_app.py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596950" y="3543449"/>
            <a:ext cx="3816995" cy="142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ko-KR" alt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Chain 흐름 화면 확인</a:t>
            </a:r>
            <a:endParaRPr lang="ko-KR" sz="850" dirty="0"/>
          </a:p>
        </p:txBody>
      </p:sp>
      <p:sp>
        <p:nvSpPr>
          <p:cNvPr id="20" name="Shape 16"/>
          <p:cNvSpPr/>
          <p:nvPr/>
        </p:nvSpPr>
        <p:spPr>
          <a:xfrm>
            <a:off x="4606007" y="3207097"/>
            <a:ext cx="4065091" cy="602605"/>
          </a:xfrm>
          <a:prstGeom prst="roundRect">
            <a:avLst>
              <a:gd name="adj" fmla="val 2733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730055" y="3331146"/>
            <a:ext cx="2404467" cy="171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first_sample_run_streamlit_app.py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4730055" y="3543449"/>
            <a:ext cx="3816995" cy="142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ko-KR" alt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첫 번째 실행 흐름 화면 확인</a:t>
            </a:r>
            <a:endParaRPr lang="ko-KR" sz="850" dirty="0"/>
          </a:p>
        </p:txBody>
      </p:sp>
      <p:sp>
        <p:nvSpPr>
          <p:cNvPr id="23" name="Shape 19"/>
          <p:cNvSpPr/>
          <p:nvPr/>
        </p:nvSpPr>
        <p:spPr>
          <a:xfrm>
            <a:off x="472901" y="3886200"/>
            <a:ext cx="8198197" cy="353616"/>
          </a:xfrm>
          <a:prstGeom prst="roundRect">
            <a:avLst>
              <a:gd name="adj" fmla="val 4657"/>
            </a:avLst>
          </a:prstGeom>
          <a:solidFill>
            <a:srgbClr val="FCF2B5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662" y="4032052"/>
            <a:ext cx="137220" cy="109761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829642" y="3981599"/>
            <a:ext cx="8188896" cy="142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⚠️</a:t>
            </a:r>
            <a:pPr algn="l" indent="0" marL="0">
              <a:lnSpc>
                <a:spcPct val="108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Streamlit은 핵심 학습 목표가 아니라 CLI 흐름을 보기 쉽게 확인하는 도구입니다.</a:t>
            </a:r>
            <a:endParaRPr lang="ko-KR" sz="850" dirty="0"/>
          </a:p>
        </p:txBody>
      </p:sp>
      <p:sp>
        <p:nvSpPr>
          <p:cNvPr id="26" name="Shape 21"/>
          <p:cNvSpPr/>
          <p:nvPr/>
        </p:nvSpPr>
        <p:spPr>
          <a:xfrm>
            <a:off x="472901" y="4316313"/>
            <a:ext cx="8198197" cy="353616"/>
          </a:xfrm>
          <a:prstGeom prst="roundRect">
            <a:avLst>
              <a:gd name="adj" fmla="val 4657"/>
            </a:avLst>
          </a:prstGeom>
          <a:solidFill>
            <a:srgbClr val="B6FCB8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662" y="4462165"/>
            <a:ext cx="137220" cy="109761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829642" y="4411712"/>
            <a:ext cx="8188896" cy="142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📌</a:t>
            </a:r>
            <a:pPr algn="l" indent="0" marL="0">
              <a:lnSpc>
                <a:spcPct val="108000"/>
              </a:lnSpc>
              <a:buNone/>
            </a:pPr>
            <a:r>
              <a:rPr lang="ko-KR" altLang="en-US" sz="8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핵심 정리: Streamlit은 실습 흐름을 화면으로 확인하는 보조 수단입니다.</a:t>
            </a:r>
            <a:endParaRPr lang="ko-KR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89372"/>
            <a:ext cx="4213920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26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CLI와 Streamlit 결과 비교</a:t>
            </a:r>
            <a:endParaRPr lang="ko-KR" sz="2600" dirty="0"/>
          </a:p>
        </p:txBody>
      </p:sp>
      <p:sp>
        <p:nvSpPr>
          <p:cNvPr id="3" name="Text 1"/>
          <p:cNvSpPr/>
          <p:nvPr/>
        </p:nvSpPr>
        <p:spPr>
          <a:xfrm>
            <a:off x="496119" y="1304032"/>
            <a:ext cx="8608963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ko-KR" alt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두 가지 실행 방식을 비교하고, 상황에 맞게 선택해서 사용할 수 있습니다.</a:t>
            </a:r>
            <a:endParaRPr lang="ko-KR" sz="1000" dirty="0"/>
          </a:p>
        </p:txBody>
      </p:sp>
      <p:sp>
        <p:nvSpPr>
          <p:cNvPr id="4" name="Shape 2"/>
          <p:cNvSpPr/>
          <p:nvPr/>
        </p:nvSpPr>
        <p:spPr>
          <a:xfrm>
            <a:off x="496119" y="1602135"/>
            <a:ext cx="8151763" cy="1284089"/>
          </a:xfrm>
          <a:prstGeom prst="roundRect">
            <a:avLst>
              <a:gd name="adj" fmla="val 1553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33933" y="1671414"/>
            <a:ext cx="2224534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ko-KR" altLang="en-US" sz="100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구분</a:t>
            </a:r>
            <a:endParaRPr lang="ko-KR" sz="1000" dirty="0"/>
          </a:p>
        </p:txBody>
      </p:sp>
      <p:sp>
        <p:nvSpPr>
          <p:cNvPr id="6" name="Text 4"/>
          <p:cNvSpPr/>
          <p:nvPr/>
        </p:nvSpPr>
        <p:spPr>
          <a:xfrm>
            <a:off x="2671837" y="1671414"/>
            <a:ext cx="2222153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CLI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707359" y="1671414"/>
            <a:ext cx="2222153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Streamlit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742881" y="1671414"/>
            <a:ext cx="2224534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ko-KR" altLang="en-US" sz="100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수강생 관점의 장점</a:t>
            </a:r>
            <a:endParaRPr lang="ko-KR" sz="1000" dirty="0"/>
          </a:p>
        </p:txBody>
      </p:sp>
      <p:sp>
        <p:nvSpPr>
          <p:cNvPr id="9" name="Text 7"/>
          <p:cNvSpPr/>
          <p:nvPr/>
        </p:nvSpPr>
        <p:spPr>
          <a:xfrm>
            <a:off x="633933" y="1991246"/>
            <a:ext cx="2224534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ko-KR" alt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실행 방식</a:t>
            </a:r>
            <a:endParaRPr lang="ko-KR" sz="1000" dirty="0"/>
          </a:p>
        </p:txBody>
      </p:sp>
      <p:sp>
        <p:nvSpPr>
          <p:cNvPr id="10" name="Text 8"/>
          <p:cNvSpPr/>
          <p:nvPr/>
        </p:nvSpPr>
        <p:spPr>
          <a:xfrm>
            <a:off x="2671837" y="1991246"/>
            <a:ext cx="2222153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ko-KR" alt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PowerShell에서 명령어 실행</a:t>
            </a:r>
            <a:endParaRPr lang="ko-KR" sz="1000" dirty="0"/>
          </a:p>
        </p:txBody>
      </p:sp>
      <p:sp>
        <p:nvSpPr>
          <p:cNvPr id="11" name="Text 9"/>
          <p:cNvSpPr/>
          <p:nvPr/>
        </p:nvSpPr>
        <p:spPr>
          <a:xfrm>
            <a:off x="4707359" y="1991246"/>
            <a:ext cx="2222153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ko-KR" alt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웹 화면에서 입력 후 실행</a:t>
            </a:r>
            <a:endParaRPr lang="ko-KR" sz="1000" dirty="0"/>
          </a:p>
        </p:txBody>
      </p:sp>
      <p:sp>
        <p:nvSpPr>
          <p:cNvPr id="12" name="Text 10"/>
          <p:cNvSpPr/>
          <p:nvPr/>
        </p:nvSpPr>
        <p:spPr>
          <a:xfrm>
            <a:off x="6742881" y="1991246"/>
            <a:ext cx="2224534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ko-KR" alt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두 방식 모두 흐름 이해에 도움</a:t>
            </a:r>
            <a:endParaRPr lang="ko-KR" sz="1000" dirty="0"/>
          </a:p>
        </p:txBody>
      </p:sp>
      <p:sp>
        <p:nvSpPr>
          <p:cNvPr id="13" name="Text 11"/>
          <p:cNvSpPr/>
          <p:nvPr/>
        </p:nvSpPr>
        <p:spPr>
          <a:xfrm>
            <a:off x="633933" y="2311078"/>
            <a:ext cx="2224534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ko-KR" alt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결과 확인</a:t>
            </a:r>
            <a:endParaRPr lang="ko-KR" sz="1000" dirty="0"/>
          </a:p>
        </p:txBody>
      </p:sp>
      <p:sp>
        <p:nvSpPr>
          <p:cNvPr id="14" name="Text 12"/>
          <p:cNvSpPr/>
          <p:nvPr/>
        </p:nvSpPr>
        <p:spPr>
          <a:xfrm>
            <a:off x="2671837" y="2311078"/>
            <a:ext cx="2222153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ko-KR" alt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글자 중심으로 확인</a:t>
            </a:r>
            <a:endParaRPr lang="ko-KR" sz="1000" dirty="0"/>
          </a:p>
        </p:txBody>
      </p:sp>
      <p:sp>
        <p:nvSpPr>
          <p:cNvPr id="15" name="Text 13"/>
          <p:cNvSpPr/>
          <p:nvPr/>
        </p:nvSpPr>
        <p:spPr>
          <a:xfrm>
            <a:off x="4707359" y="2311078"/>
            <a:ext cx="2222153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ko-KR" alt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입력값과 결과를 화면에서 확인</a:t>
            </a:r>
            <a:endParaRPr lang="ko-KR" sz="1000" dirty="0"/>
          </a:p>
        </p:txBody>
      </p:sp>
      <p:sp>
        <p:nvSpPr>
          <p:cNvPr id="16" name="Text 14"/>
          <p:cNvSpPr/>
          <p:nvPr/>
        </p:nvSpPr>
        <p:spPr>
          <a:xfrm>
            <a:off x="6742881" y="2311078"/>
            <a:ext cx="2224534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ko-KR" alt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초보자는 화면이 더 직관적</a:t>
            </a:r>
            <a:endParaRPr lang="ko-KR" sz="1000" dirty="0"/>
          </a:p>
        </p:txBody>
      </p:sp>
      <p:sp>
        <p:nvSpPr>
          <p:cNvPr id="17" name="Text 15"/>
          <p:cNvSpPr/>
          <p:nvPr/>
        </p:nvSpPr>
        <p:spPr>
          <a:xfrm>
            <a:off x="633933" y="2630909"/>
            <a:ext cx="2224534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ko-KR" alt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장점</a:t>
            </a:r>
            <a:endParaRPr lang="ko-KR" sz="1000" dirty="0"/>
          </a:p>
        </p:txBody>
      </p:sp>
      <p:sp>
        <p:nvSpPr>
          <p:cNvPr id="18" name="Text 16"/>
          <p:cNvSpPr/>
          <p:nvPr/>
        </p:nvSpPr>
        <p:spPr>
          <a:xfrm>
            <a:off x="2671837" y="2630909"/>
            <a:ext cx="2222153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ko-KR" alt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실제 개발 실행 방식 이해</a:t>
            </a:r>
            <a:endParaRPr lang="ko-KR" sz="1000" dirty="0"/>
          </a:p>
        </p:txBody>
      </p:sp>
      <p:sp>
        <p:nvSpPr>
          <p:cNvPr id="19" name="Text 17"/>
          <p:cNvSpPr/>
          <p:nvPr/>
        </p:nvSpPr>
        <p:spPr>
          <a:xfrm>
            <a:off x="4707359" y="2630909"/>
            <a:ext cx="2222153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ko-KR" alt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실행 흐름을 눈으로 보기 쉬움</a:t>
            </a:r>
            <a:endParaRPr lang="ko-KR" sz="1000" dirty="0"/>
          </a:p>
        </p:txBody>
      </p:sp>
      <p:sp>
        <p:nvSpPr>
          <p:cNvPr id="20" name="Text 18"/>
          <p:cNvSpPr/>
          <p:nvPr/>
        </p:nvSpPr>
        <p:spPr>
          <a:xfrm>
            <a:off x="6742881" y="2630909"/>
            <a:ext cx="2224534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ko-KR" alt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상황에 맞게 선택 가능</a:t>
            </a:r>
            <a:endParaRPr lang="ko-KR" sz="1000" dirty="0"/>
          </a:p>
        </p:txBody>
      </p:sp>
      <p:sp>
        <p:nvSpPr>
          <p:cNvPr id="21" name="Text 19"/>
          <p:cNvSpPr/>
          <p:nvPr/>
        </p:nvSpPr>
        <p:spPr>
          <a:xfrm>
            <a:off x="496119" y="3097932"/>
            <a:ext cx="21184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300" dirty="0">
                <a:solidFill>
                  <a:srgbClr val="000000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🔜</a:t>
            </a:r>
            <a:pPr algn="l" indent="0" marL="0">
              <a:lnSpc>
                <a:spcPct val="104000"/>
              </a:lnSpc>
              <a:buNone/>
            </a:pPr>
            <a:r>
              <a:rPr lang="ko-KR" altLang="en-US" sz="13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 다음 단계 안내</a:t>
            </a:r>
            <a:endParaRPr lang="ko-KR" sz="1300" dirty="0"/>
          </a:p>
        </p:txBody>
      </p:sp>
      <p:sp>
        <p:nvSpPr>
          <p:cNvPr id="22" name="Text 20"/>
          <p:cNvSpPr/>
          <p:nvPr/>
        </p:nvSpPr>
        <p:spPr>
          <a:xfrm>
            <a:off x="496119" y="3405262"/>
            <a:ext cx="4371008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ko-KR" alt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1일차에서 실행한 파일과 결과를 </a:t>
            </a:r>
            <a:pPr algn="l" indent="0" marL="0">
              <a:lnSpc>
                <a:spcPct val="117000"/>
              </a:lnSpc>
              <a:buNone/>
            </a:pPr>
            <a:r>
              <a:rPr lang="ko-KR" altLang="en-US" sz="100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산출물로 정리</a:t>
            </a:r>
            <a:pPr algn="l" indent="0" marL="0">
              <a:lnSpc>
                <a:spcPct val="117000"/>
              </a:lnSpc>
              <a:buNone/>
            </a:pPr>
            <a:r>
              <a:rPr lang="ko-KR" alt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합니다.</a:t>
            </a:r>
            <a:endParaRPr lang="ko-KR" sz="1000" dirty="0"/>
          </a:p>
        </p:txBody>
      </p:sp>
      <p:sp>
        <p:nvSpPr>
          <p:cNvPr id="23" name="Shape 21"/>
          <p:cNvSpPr/>
          <p:nvPr/>
        </p:nvSpPr>
        <p:spPr>
          <a:xfrm>
            <a:off x="4643214" y="2998291"/>
            <a:ext cx="4105052" cy="868710"/>
          </a:xfrm>
          <a:prstGeom prst="roundRect">
            <a:avLst>
              <a:gd name="adj" fmla="val 2295"/>
            </a:avLst>
          </a:prstGeom>
          <a:solidFill>
            <a:srgbClr val="4950BC"/>
          </a:solidFill>
          <a:ln/>
        </p:spPr>
      </p:sp>
      <p:sp>
        <p:nvSpPr>
          <p:cNvPr id="24" name="Text 22"/>
          <p:cNvSpPr/>
          <p:nvPr/>
        </p:nvSpPr>
        <p:spPr>
          <a:xfrm>
            <a:off x="4776118" y="3097932"/>
            <a:ext cx="2218730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300" dirty="0">
                <a:solidFill>
                  <a:srgbClr val="000000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📚</a:t>
            </a:r>
            <a:pPr algn="l" indent="0" marL="0">
              <a:lnSpc>
                <a:spcPct val="104000"/>
              </a:lnSpc>
              <a:buNone/>
            </a:pPr>
            <a:r>
              <a:rPr lang="ko-KR" altLang="en-US" sz="130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 2일차 예고: RAG 학습</a:t>
            </a:r>
            <a:endParaRPr lang="ko-KR" sz="1300" dirty="0"/>
          </a:p>
        </p:txBody>
      </p:sp>
      <p:sp>
        <p:nvSpPr>
          <p:cNvPr id="25" name="Text 23"/>
          <p:cNvSpPr/>
          <p:nvPr/>
        </p:nvSpPr>
        <p:spPr>
          <a:xfrm>
            <a:off x="4776118" y="3405262"/>
            <a:ext cx="3839245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ko-KR" altLang="en-US" sz="100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Agent v0의 한계를 바탕으로, 2일차에는 Agent가 직접 문서를 검색해 근거를 찾는 </a:t>
            </a:r>
            <a:pPr algn="l" indent="0" marL="0">
              <a:lnSpc>
                <a:spcPct val="117000"/>
              </a:lnSpc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RAG(검색 증강 생성)</a:t>
            </a:r>
            <a:pPr algn="l" indent="0" marL="0">
              <a:lnSpc>
                <a:spcPct val="117000"/>
              </a:lnSpc>
              <a:buNone/>
            </a:pPr>
            <a:r>
              <a:rPr lang="ko-KR" altLang="en-US" sz="100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학습으로 넘어갑니다.</a:t>
            </a:r>
            <a:endParaRPr lang="ko-KR" sz="1000" dirty="0"/>
          </a:p>
        </p:txBody>
      </p:sp>
      <p:sp>
        <p:nvSpPr>
          <p:cNvPr id="26" name="Shape 24"/>
          <p:cNvSpPr/>
          <p:nvPr/>
        </p:nvSpPr>
        <p:spPr>
          <a:xfrm>
            <a:off x="496119" y="3979069"/>
            <a:ext cx="8151763" cy="474985"/>
          </a:xfrm>
          <a:prstGeom prst="roundRect">
            <a:avLst>
              <a:gd name="adj" fmla="val 4197"/>
            </a:avLst>
          </a:prstGeom>
          <a:solidFill>
            <a:srgbClr val="B6FCB8"/>
          </a:solidFill>
          <a:ln/>
        </p:spPr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9022" y="4166964"/>
            <a:ext cx="166092" cy="132904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928018" y="4111898"/>
            <a:ext cx="8044160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📌</a:t>
            </a:r>
            <a:pPr algn="l" indent="0" marL="0">
              <a:lnSpc>
                <a:spcPct val="117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1일차 핵심 정리: Prompt → Chain → Graph → Agent v0 흐름을 통해 Agent의 기본 구조를 이해했습니다. 수고하셨습니다! </a:t>
            </a:r>
            <a:pPr algn="l" indent="0" marL="0">
              <a:lnSpc>
                <a:spcPct val="117000"/>
              </a:lnSpc>
              <a:buNone/>
            </a:pPr>
            <a:r>
              <a:rPr lang="ko-KR" altLang="en-US" sz="100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🎉</a:t>
            </a:r>
            <a:endParaRPr lang="ko-KR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2294855"/>
            <a:ext cx="6497836" cy="553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34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3.산출물 정리와 2일차 RAG 연결</a:t>
            </a:r>
            <a:endParaRPr lang="ko-KR" sz="34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51433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27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오늘 만든 산출물 목록</a:t>
            </a:r>
            <a:endParaRPr lang="ko-KR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421234"/>
            <a:ext cx="8151763" cy="408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ko-KR" alt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산출물 정리는 오늘 만든 결과를 책상 위에 정리해 두는 것과 비슷합니다. 정리하면, 산출물은 1일차 실습이 실제로 어떤 흐름으로 진행되었는지 확인하는 근거입니다.</a:t>
            </a:r>
            <a:endParaRPr lang="ko-KR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1957015"/>
            <a:ext cx="8151763" cy="1776933"/>
          </a:xfrm>
          <a:prstGeom prst="roundRect">
            <a:avLst>
              <a:gd name="adj" fmla="val 1197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2714" y="2034555"/>
            <a:ext cx="302106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ko-KR" altLang="en-US" sz="110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산출물</a:t>
            </a:r>
            <a:endParaRPr lang="ko-KR" sz="1100" dirty="0"/>
          </a:p>
        </p:txBody>
      </p:sp>
      <p:sp>
        <p:nvSpPr>
          <p:cNvPr id="6" name="Text 4"/>
          <p:cNvSpPr/>
          <p:nvPr/>
        </p:nvSpPr>
        <p:spPr>
          <a:xfrm>
            <a:off x="3494856" y="2034555"/>
            <a:ext cx="3018681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ko-KR" altLang="en-US" sz="110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확인 내용</a:t>
            </a:r>
            <a:endParaRPr lang="ko-KR" sz="1100" dirty="0"/>
          </a:p>
        </p:txBody>
      </p:sp>
      <p:sp>
        <p:nvSpPr>
          <p:cNvPr id="7" name="Text 5"/>
          <p:cNvSpPr/>
          <p:nvPr/>
        </p:nvSpPr>
        <p:spPr>
          <a:xfrm>
            <a:off x="6344617" y="2034555"/>
            <a:ext cx="2613943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ko-KR" altLang="en-US" sz="110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의미</a:t>
            </a:r>
            <a:endParaRPr lang="ko-KR" sz="1100" dirty="0"/>
          </a:p>
        </p:txBody>
      </p:sp>
      <p:sp>
        <p:nvSpPr>
          <p:cNvPr id="8" name="Text 6"/>
          <p:cNvSpPr/>
          <p:nvPr/>
        </p:nvSpPr>
        <p:spPr>
          <a:xfrm>
            <a:off x="642714" y="2388989"/>
            <a:ext cx="302106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ko-KR" alt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first_sample_run.py 실행 흐름</a:t>
            </a:r>
            <a:endParaRPr lang="ko-KR" sz="1100" dirty="0"/>
          </a:p>
        </p:txBody>
      </p:sp>
      <p:sp>
        <p:nvSpPr>
          <p:cNvPr id="9" name="Text 7"/>
          <p:cNvSpPr/>
          <p:nvPr/>
        </p:nvSpPr>
        <p:spPr>
          <a:xfrm>
            <a:off x="3494856" y="2388989"/>
            <a:ext cx="3018681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ko-KR" alt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알람 로그와 매뉴얼 확인</a:t>
            </a:r>
            <a:endParaRPr lang="ko-KR" sz="1100" dirty="0"/>
          </a:p>
        </p:txBody>
      </p:sp>
      <p:sp>
        <p:nvSpPr>
          <p:cNvPr id="10" name="Text 8"/>
          <p:cNvSpPr/>
          <p:nvPr/>
        </p:nvSpPr>
        <p:spPr>
          <a:xfrm>
            <a:off x="6344617" y="2388989"/>
            <a:ext cx="2613943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ko-KR" alt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Agent가 사용할 재료 확인</a:t>
            </a:r>
            <a:endParaRPr lang="ko-KR" sz="1100" dirty="0"/>
          </a:p>
        </p:txBody>
      </p:sp>
      <p:sp>
        <p:nvSpPr>
          <p:cNvPr id="11" name="Text 9"/>
          <p:cNvSpPr/>
          <p:nvPr/>
        </p:nvSpPr>
        <p:spPr>
          <a:xfrm>
            <a:off x="642714" y="2743423"/>
            <a:ext cx="302106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ko-KR" alt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simple_chain_starter.py 실행 흐름</a:t>
            </a:r>
            <a:endParaRPr lang="ko-KR" sz="1100" dirty="0"/>
          </a:p>
        </p:txBody>
      </p:sp>
      <p:sp>
        <p:nvSpPr>
          <p:cNvPr id="12" name="Text 10"/>
          <p:cNvSpPr/>
          <p:nvPr/>
        </p:nvSpPr>
        <p:spPr>
          <a:xfrm>
            <a:off x="3494856" y="2743423"/>
            <a:ext cx="3018681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ko-KR" alt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Prompt → 실제 LLM 응답 흐름 확인</a:t>
            </a:r>
            <a:endParaRPr lang="ko-KR" sz="1100" dirty="0"/>
          </a:p>
        </p:txBody>
      </p:sp>
      <p:sp>
        <p:nvSpPr>
          <p:cNvPr id="13" name="Text 11"/>
          <p:cNvSpPr/>
          <p:nvPr/>
        </p:nvSpPr>
        <p:spPr>
          <a:xfrm>
            <a:off x="6344617" y="2743423"/>
            <a:ext cx="2613943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ko-KR" alt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정해진 순서의 업무 흐름 이해</a:t>
            </a:r>
            <a:endParaRPr lang="ko-KR" sz="1100" dirty="0"/>
          </a:p>
        </p:txBody>
      </p:sp>
      <p:sp>
        <p:nvSpPr>
          <p:cNvPr id="14" name="Text 12"/>
          <p:cNvSpPr/>
          <p:nvPr/>
        </p:nvSpPr>
        <p:spPr>
          <a:xfrm>
            <a:off x="642714" y="3097857"/>
            <a:ext cx="302106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ko-KR" alt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mini_graph_runner.py 실행 흐름</a:t>
            </a:r>
            <a:endParaRPr lang="ko-KR" sz="1100" dirty="0"/>
          </a:p>
        </p:txBody>
      </p:sp>
      <p:sp>
        <p:nvSpPr>
          <p:cNvPr id="15" name="Text 13"/>
          <p:cNvSpPr/>
          <p:nvPr/>
        </p:nvSpPr>
        <p:spPr>
          <a:xfrm>
            <a:off x="3494856" y="3097857"/>
            <a:ext cx="3018681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ko-KR" alt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알람 코드 있음/없음 분기 확인</a:t>
            </a:r>
            <a:endParaRPr lang="ko-KR" sz="1100" dirty="0"/>
          </a:p>
        </p:txBody>
      </p:sp>
      <p:sp>
        <p:nvSpPr>
          <p:cNvPr id="16" name="Text 14"/>
          <p:cNvSpPr/>
          <p:nvPr/>
        </p:nvSpPr>
        <p:spPr>
          <a:xfrm>
            <a:off x="6344617" y="3097857"/>
            <a:ext cx="2613943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ko-KR" alt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조건부 흐름 이해</a:t>
            </a:r>
            <a:endParaRPr lang="ko-KR" sz="1100" dirty="0"/>
          </a:p>
        </p:txBody>
      </p:sp>
      <p:sp>
        <p:nvSpPr>
          <p:cNvPr id="17" name="Text 15"/>
          <p:cNvSpPr/>
          <p:nvPr/>
        </p:nvSpPr>
        <p:spPr>
          <a:xfrm>
            <a:off x="642714" y="3452292"/>
            <a:ext cx="302106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ko-KR" alt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day1_agent_v0_template.py 선택 실행</a:t>
            </a:r>
            <a:endParaRPr lang="ko-KR" sz="1100" dirty="0"/>
          </a:p>
        </p:txBody>
      </p:sp>
      <p:sp>
        <p:nvSpPr>
          <p:cNvPr id="18" name="Text 16"/>
          <p:cNvSpPr/>
          <p:nvPr/>
        </p:nvSpPr>
        <p:spPr>
          <a:xfrm>
            <a:off x="3494856" y="3452292"/>
            <a:ext cx="3018681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ko-KR" alt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Agent v0 결과와 Trace 확인</a:t>
            </a:r>
            <a:endParaRPr lang="ko-KR" sz="1100" dirty="0"/>
          </a:p>
        </p:txBody>
      </p:sp>
      <p:sp>
        <p:nvSpPr>
          <p:cNvPr id="19" name="Text 17"/>
          <p:cNvSpPr/>
          <p:nvPr/>
        </p:nvSpPr>
        <p:spPr>
          <a:xfrm>
            <a:off x="6344617" y="3452292"/>
            <a:ext cx="2613943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ko-KR" alt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1일차 조각 실습 통합</a:t>
            </a:r>
            <a:endParaRPr lang="ko-KR" sz="1100" dirty="0"/>
          </a:p>
        </p:txBody>
      </p:sp>
      <p:sp>
        <p:nvSpPr>
          <p:cNvPr id="20" name="Shape 18"/>
          <p:cNvSpPr/>
          <p:nvPr/>
        </p:nvSpPr>
        <p:spPr>
          <a:xfrm>
            <a:off x="496119" y="3861495"/>
            <a:ext cx="8151763" cy="530572"/>
          </a:xfrm>
          <a:prstGeom prst="roundRect">
            <a:avLst>
              <a:gd name="adj" fmla="val 4008"/>
            </a:avLst>
          </a:prstGeom>
          <a:solidFill>
            <a:srgbClr val="B6FCB8"/>
          </a:solidFill>
          <a:ln/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7877" y="4067026"/>
            <a:ext cx="177180" cy="141759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956816" y="4010323"/>
            <a:ext cx="8006507" cy="208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ko-KR" altLang="en-US" sz="110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📌</a:t>
            </a:r>
            <a:pPr algn="l" indent="0" marL="0">
              <a:lnSpc>
                <a:spcPct val="120000"/>
              </a:lnSpc>
              <a:buNone/>
            </a:pPr>
            <a:r>
              <a:rPr lang="ko-KR" altLang="en-US" sz="110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핵심 정리: 각 산출물은 Agent의 기본 아이디어를 단계별로 이해하고 검증하는 중요한 근거입니다.</a:t>
            </a:r>
            <a:endParaRPr lang="ko-KR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33338"/>
            <a:ext cx="4136231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27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Agent v0의 한계와 의미</a:t>
            </a:r>
            <a:endParaRPr lang="ko-KR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303139"/>
            <a:ext cx="8151763" cy="535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ko-KR" alt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Agent v0는 1일차 실습의 통합 버전이지만, 완전한 형태의 Agent는 아닙니다. 오히려 </a:t>
            </a:r>
            <a:pPr algn="l" indent="0" marL="0">
              <a:lnSpc>
                <a:spcPct val="120000"/>
              </a:lnSpc>
              <a:buNone/>
            </a:pPr>
            <a:r>
              <a:rPr lang="ko-KR" altLang="en-US" sz="110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다음 단계로 확장하기 위한 중요한 출발점</a:t>
            </a:r>
            <a:pPr algn="l"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ko-KR" alt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입니다.</a:t>
            </a:r>
            <a:endParaRPr lang="ko-KR" sz="11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ko-KR" alt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현재 Agent v0의 주요 한계점은 다음과 같습니다.</a:t>
            </a:r>
            <a:endParaRPr lang="ko-KR" sz="1100" dirty="0"/>
          </a:p>
        </p:txBody>
      </p:sp>
      <p:sp>
        <p:nvSpPr>
          <p:cNvPr id="4" name="Text 2"/>
          <p:cNvSpPr/>
          <p:nvPr/>
        </p:nvSpPr>
        <p:spPr>
          <a:xfrm>
            <a:off x="496119" y="1966466"/>
            <a:ext cx="8151763" cy="6916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ko-KR" alt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여러 문서 중 관련 근거를 자동으로 </a:t>
            </a:r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ko-KR" altLang="en-US" sz="110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깊게 검색하지 못합니다.</a:t>
            </a:r>
            <a:endParaRPr lang="ko-KR" sz="11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ko-KR" alt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복잡한 DB Tool이나 MCP Tool과 같은 </a:t>
            </a:r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ko-KR" altLang="en-US" sz="110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외부 도구와 연결되지 않았습니다.</a:t>
            </a:r>
            <a:endParaRPr lang="ko-KR" sz="11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ko-KR" alt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Trace나 Guardrail 기반의 </a:t>
            </a:r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ko-KR" altLang="en-US" sz="110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품질 평가 기능이 제한적</a:t>
            </a:r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ko-KR" alt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입니다.</a:t>
            </a:r>
            <a:endParaRPr lang="ko-KR" sz="1100" dirty="0"/>
          </a:p>
        </p:txBody>
      </p:sp>
      <p:sp>
        <p:nvSpPr>
          <p:cNvPr id="5" name="Shape 3"/>
          <p:cNvSpPr/>
          <p:nvPr/>
        </p:nvSpPr>
        <p:spPr>
          <a:xfrm>
            <a:off x="496119" y="2785690"/>
            <a:ext cx="8151763" cy="530572"/>
          </a:xfrm>
          <a:prstGeom prst="roundRect">
            <a:avLst>
              <a:gd name="adj" fmla="val 4008"/>
            </a:avLst>
          </a:prstGeom>
          <a:solidFill>
            <a:srgbClr val="B6D6F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7877" y="2991222"/>
            <a:ext cx="177180" cy="14175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56816" y="2934519"/>
            <a:ext cx="8006507" cy="208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ko-KR" altLang="en-US" sz="110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🚗</a:t>
            </a:r>
            <a:pPr algn="l" indent="0" marL="0">
              <a:lnSpc>
                <a:spcPct val="120000"/>
              </a:lnSpc>
              <a:buNone/>
            </a:pPr>
            <a:r>
              <a:rPr lang="ko-KR" altLang="en-US" sz="110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자동차 비유: Agent v0는 완성차가 아니라 </a:t>
            </a:r>
            <a:pPr algn="l" indent="0" marL="0">
              <a:lnSpc>
                <a:spcPct val="120000"/>
              </a:lnSpc>
              <a:buNone/>
            </a:pPr>
            <a:r>
              <a:rPr lang="ko-KR" altLang="en-US" sz="1100" b="1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기본 뼈대와 바퀴를 붙인 첫 번째 버전</a:t>
            </a:r>
            <a:pPr algn="l" indent="0" marL="0">
              <a:lnSpc>
                <a:spcPct val="120000"/>
              </a:lnSpc>
              <a:buNone/>
            </a:pPr>
            <a:r>
              <a:rPr lang="ko-KR" altLang="en-US" sz="110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입니다.</a:t>
            </a:r>
            <a:endParaRPr lang="ko-KR" sz="1100" dirty="0"/>
          </a:p>
        </p:txBody>
      </p:sp>
      <p:sp>
        <p:nvSpPr>
          <p:cNvPr id="8" name="Text 5"/>
          <p:cNvSpPr/>
          <p:nvPr/>
        </p:nvSpPr>
        <p:spPr>
          <a:xfrm>
            <a:off x="496119" y="3443808"/>
            <a:ext cx="8151763" cy="408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ko-KR" alt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즉, Agent v0는 사용자가 제공한 정보와 단순 조회 결과를 중심으로 동작합니다. 이는 </a:t>
            </a:r>
            <a:pPr algn="l" indent="0" marL="0">
              <a:lnSpc>
                <a:spcPct val="120000"/>
              </a:lnSpc>
              <a:buNone/>
            </a:pPr>
            <a:r>
              <a:rPr lang="ko-KR" altLang="en-US" sz="110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2일차부터 5일차까지 추가될 기능을 위한 기본 구조</a:t>
            </a:r>
            <a:pPr algn="l" indent="0" marL="0">
              <a:lnSpc>
                <a:spcPct val="120000"/>
              </a:lnSpc>
              <a:buNone/>
            </a:pPr>
            <a:r>
              <a:rPr lang="ko-KR" alt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라고 이해할 수 있습니다.</a:t>
            </a:r>
            <a:endParaRPr lang="ko-KR" sz="1100" dirty="0"/>
          </a:p>
        </p:txBody>
      </p:sp>
      <p:sp>
        <p:nvSpPr>
          <p:cNvPr id="9" name="Shape 6"/>
          <p:cNvSpPr/>
          <p:nvPr/>
        </p:nvSpPr>
        <p:spPr>
          <a:xfrm>
            <a:off x="496119" y="3979590"/>
            <a:ext cx="8151763" cy="530572"/>
          </a:xfrm>
          <a:prstGeom prst="roundRect">
            <a:avLst>
              <a:gd name="adj" fmla="val 4008"/>
            </a:avLst>
          </a:prstGeom>
          <a:solidFill>
            <a:srgbClr val="B6FCB8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877" y="4185121"/>
            <a:ext cx="177180" cy="14175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56816" y="4128418"/>
            <a:ext cx="8006507" cy="208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ko-KR" altLang="en-US" sz="110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📌</a:t>
            </a:r>
            <a:pPr algn="l" indent="0" marL="0">
              <a:lnSpc>
                <a:spcPct val="120000"/>
              </a:lnSpc>
              <a:buNone/>
            </a:pPr>
            <a:r>
              <a:rPr lang="ko-KR" altLang="en-US" sz="110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핵심 정리: Agent v0는 실패한 구조가 아니라, Agent의 핵심 기능을 차례로 붙여나가기 위한 견고한 토대입니다.</a:t>
            </a:r>
            <a:endParaRPr lang="ko-KR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8379" y="527000"/>
            <a:ext cx="7923907" cy="517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32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사람이 직접 매뉴얼 문장을 찾는 방식의 한계</a:t>
            </a:r>
            <a:endParaRPr lang="ko-KR" sz="3250" dirty="0"/>
          </a:p>
        </p:txBody>
      </p:sp>
      <p:sp>
        <p:nvSpPr>
          <p:cNvPr id="3" name="Text 1"/>
          <p:cNvSpPr/>
          <p:nvPr/>
        </p:nvSpPr>
        <p:spPr>
          <a:xfrm>
            <a:off x="488379" y="1277169"/>
            <a:ext cx="8167241" cy="1631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spcAft>
                <a:spcPts val="1350"/>
              </a:spcAft>
              <a:buNone/>
            </a:pPr>
            <a:r>
              <a:rPr lang="ko-KR" alt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1일차 실습에서는 사용자가 알람 로그와 매뉴얼 문장을 직접 확인하고, 필요한 문장을 골라 Prompt에 넣어 LLM 응답이 어떻게 바뀌는지 확인했습니다. 이 방식은 문서가 적을 때는 가능합니다.</a:t>
            </a:r>
            <a:endParaRPr lang="ko-KR" sz="1300" dirty="0"/>
          </a:p>
          <a:p>
            <a:pPr algn="l" indent="0" marL="0">
              <a:lnSpc>
                <a:spcPct val="129000"/>
              </a:lnSpc>
              <a:buNone/>
            </a:pPr>
            <a:r>
              <a:rPr lang="ko-KR" alt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하지만 매뉴얼이 길어지고 문서가 많아지면 사람이 매번 관련 문장을 찾는 것은 어렵고, 중요한 근거를 놓칠 수도 있습니다. 이는 마치 </a:t>
            </a:r>
            <a:pPr algn="l" indent="0" marL="0">
              <a:lnSpc>
                <a:spcPct val="129000"/>
              </a:lnSpc>
              <a:buNone/>
            </a:pPr>
            <a:r>
              <a:rPr lang="ko-KR" altLang="en-US" sz="130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큰 도서관에서 책 제목도 모른 채 직접 책장을 뒤지는 것</a:t>
            </a:r>
            <a:pPr algn="l" indent="0" marL="0">
              <a:lnSpc>
                <a:spcPct val="129000"/>
              </a:lnSpc>
              <a:spcAft>
                <a:spcPts val="1350"/>
              </a:spcAft>
              <a:buNone/>
            </a:pPr>
            <a:r>
              <a:rPr lang="ko-KR" alt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과 같습니다.</a:t>
            </a:r>
            <a:endParaRPr lang="ko-KR" sz="1300" dirty="0"/>
          </a:p>
          <a:p>
            <a:pPr algn="l" indent="0" marL="0">
              <a:lnSpc>
                <a:spcPct val="129000"/>
              </a:lnSpc>
              <a:buNone/>
            </a:pPr>
            <a:r>
              <a:rPr lang="ko-KR" altLang="en-US" sz="13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따라서 문서가 많아질수록 Agent가 직접 문서를 검색하여 필요한 근거를 찾는 구조가 필요합니다.</a:t>
            </a:r>
            <a:endParaRPr lang="ko-KR" sz="1300" dirty="0"/>
          </a:p>
        </p:txBody>
      </p:sp>
      <p:sp>
        <p:nvSpPr>
          <p:cNvPr id="4" name="Shape 2"/>
          <p:cNvSpPr/>
          <p:nvPr/>
        </p:nvSpPr>
        <p:spPr>
          <a:xfrm>
            <a:off x="488379" y="3082528"/>
            <a:ext cx="8167241" cy="679847"/>
          </a:xfrm>
          <a:prstGeom prst="roundRect">
            <a:avLst>
              <a:gd name="adj" fmla="val 3656"/>
            </a:avLst>
          </a:prstGeom>
          <a:solidFill>
            <a:srgbClr val="B6D6F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4025" y="3330327"/>
            <a:ext cx="207094" cy="16564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6765" y="3278832"/>
            <a:ext cx="7920410" cy="261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ko-KR" altLang="en-US" sz="130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💡</a:t>
            </a:r>
            <a:pPr algn="l" indent="0" marL="0">
              <a:lnSpc>
                <a:spcPct val="129000"/>
              </a:lnSpc>
              <a:buNone/>
            </a:pPr>
            <a:r>
              <a:rPr lang="ko-KR" altLang="en-US" sz="130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이러한 Agent v0의 한계가 바로 2일차부터 학습할 </a:t>
            </a:r>
            <a:pPr algn="l" indent="0" marL="0">
              <a:lnSpc>
                <a:spcPct val="129000"/>
              </a:lnSpc>
              <a:buNone/>
            </a:pPr>
            <a:r>
              <a:rPr lang="ko-KR" altLang="en-US" sz="1300" b="1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RAG(검색 증강 생성) 기술</a:t>
            </a:r>
            <a:pPr algn="l" indent="0" marL="0">
              <a:lnSpc>
                <a:spcPct val="129000"/>
              </a:lnSpc>
              <a:buNone/>
            </a:pPr>
            <a:r>
              <a:rPr lang="ko-KR" altLang="en-US" sz="130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의 필요성을 보여줍니다.</a:t>
            </a:r>
            <a:endParaRPr lang="ko-KR" sz="1300" dirty="0"/>
          </a:p>
        </p:txBody>
      </p:sp>
      <p:sp>
        <p:nvSpPr>
          <p:cNvPr id="7" name="Shape 4"/>
          <p:cNvSpPr/>
          <p:nvPr/>
        </p:nvSpPr>
        <p:spPr>
          <a:xfrm>
            <a:off x="488379" y="3936653"/>
            <a:ext cx="8167241" cy="679847"/>
          </a:xfrm>
          <a:prstGeom prst="roundRect">
            <a:avLst>
              <a:gd name="adj" fmla="val 3656"/>
            </a:avLst>
          </a:prstGeom>
          <a:solidFill>
            <a:srgbClr val="B6FCB8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025" y="4184452"/>
            <a:ext cx="207094" cy="16564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26765" y="4132957"/>
            <a:ext cx="7920410" cy="261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ko-KR" altLang="en-US" sz="130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📌</a:t>
            </a:r>
            <a:pPr algn="l" indent="0" marL="0">
              <a:lnSpc>
                <a:spcPct val="129000"/>
              </a:lnSpc>
              <a:buNone/>
            </a:pPr>
            <a:r>
              <a:rPr lang="ko-KR" altLang="en-US" sz="130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핵심 정리: 방대한 정보 속에서 Agent가 스스로 관련 근거를 찾아내는 능력이 필수적입니다.</a:t>
            </a:r>
            <a:endParaRPr lang="ko-KR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24098"/>
            <a:ext cx="3346698" cy="3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22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2일차: RAG 구조로 연결</a:t>
            </a:r>
            <a:endParaRPr lang="ko-KR" sz="2250" dirty="0"/>
          </a:p>
        </p:txBody>
      </p:sp>
      <p:sp>
        <p:nvSpPr>
          <p:cNvPr id="3" name="Text 1"/>
          <p:cNvSpPr/>
          <p:nvPr/>
        </p:nvSpPr>
        <p:spPr>
          <a:xfrm>
            <a:off x="496119" y="1033760"/>
            <a:ext cx="8151763" cy="304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ko-KR" alt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RAG는 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90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Retrieval-Augmented Generation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의 줄임말입니다. 초보자에게는 "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900" dirty="0">
                <a:solidFill>
                  <a:srgbClr val="692D91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문서를 먼저 검색한 뒤, 찾은 근거를 LLM에게 전달해서 답변을 만드는 방식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"으로 이해하면 됩니다. 1일차에는 사람이 매뉴얼 문장을 찾아 Prompt에 넣었지만, 2일차에는 Agent가 관련 문서를 직접 찾도록 확장합니다.</a:t>
            </a:r>
            <a:endParaRPr lang="ko-KR" sz="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21978"/>
            <a:ext cx="4075881" cy="46069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11237" y="1957536"/>
            <a:ext cx="14397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1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사용자 질문</a:t>
            </a:r>
            <a:endParaRPr lang="ko-KR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421978"/>
            <a:ext cx="4075881" cy="46069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87119" y="1957536"/>
            <a:ext cx="14397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1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관련 문서 검색</a:t>
            </a:r>
            <a:endParaRPr lang="ko-KR" sz="11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2252588"/>
            <a:ext cx="4075881" cy="460697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11237" y="2788146"/>
            <a:ext cx="14397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1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문서 조각 선택</a:t>
            </a:r>
            <a:endParaRPr lang="ko-KR" sz="11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2252588"/>
            <a:ext cx="4075881" cy="460697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687119" y="2788146"/>
            <a:ext cx="1536502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1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검색 결과를 State에 저장</a:t>
            </a:r>
            <a:endParaRPr lang="ko-KR" sz="110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119" y="3083198"/>
            <a:ext cx="4075881" cy="460697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611237" y="3618756"/>
            <a:ext cx="14397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1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Prompt에 근거 포함</a:t>
            </a:r>
            <a:endParaRPr lang="ko-KR" sz="1100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3083198"/>
            <a:ext cx="4075881" cy="460697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4687119" y="3618756"/>
            <a:ext cx="14397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1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LLM 응답 생성</a:t>
            </a:r>
            <a:endParaRPr lang="ko-KR" sz="1100" dirty="0"/>
          </a:p>
        </p:txBody>
      </p:sp>
      <p:sp>
        <p:nvSpPr>
          <p:cNvPr id="16" name="Text 8"/>
          <p:cNvSpPr/>
          <p:nvPr/>
        </p:nvSpPr>
        <p:spPr>
          <a:xfrm>
            <a:off x="496119" y="3997970"/>
            <a:ext cx="8608963" cy="1520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ko-KR" alt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정리하면, RAG는 Agent가 문서 창고에서 필요한 근거를 찾아오는 방식입니다.</a:t>
            </a:r>
            <a:endParaRPr lang="ko-KR" sz="900" dirty="0"/>
          </a:p>
        </p:txBody>
      </p:sp>
      <p:sp>
        <p:nvSpPr>
          <p:cNvPr id="17" name="Shape 9"/>
          <p:cNvSpPr/>
          <p:nvPr/>
        </p:nvSpPr>
        <p:spPr>
          <a:xfrm>
            <a:off x="496119" y="4234160"/>
            <a:ext cx="8151763" cy="385242"/>
          </a:xfrm>
          <a:prstGeom prst="roundRect">
            <a:avLst>
              <a:gd name="adj" fmla="val 4485"/>
            </a:avLst>
          </a:prstGeom>
          <a:solidFill>
            <a:srgbClr val="B6FCB8"/>
          </a:solidFill>
          <a:ln/>
        </p:spPr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1237" y="4391546"/>
            <a:ext cx="143917" cy="115119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870272" y="4337745"/>
            <a:ext cx="8119690" cy="1567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📌</a:t>
            </a:r>
            <a:pPr algn="l" indent="0" marL="0">
              <a:lnSpc>
                <a:spcPct val="110000"/>
              </a:lnSpc>
              <a:buNone/>
            </a:pPr>
            <a:r>
              <a:rPr lang="ko-KR" altLang="en-US" sz="90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핵심 정리: RAG는 Agent가 방대한 문서에서 필요한 정보를 스스로 찾아 LLM 응답을 강화하는 기술입니다.</a:t>
            </a:r>
            <a:endParaRPr lang="ko-KR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8379" y="524470"/>
            <a:ext cx="5389438" cy="3815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24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2일차 학습 예고: RAG Agent로의 전환</a:t>
            </a:r>
            <a:endParaRPr lang="ko-KR" sz="2400" dirty="0"/>
          </a:p>
        </p:txBody>
      </p:sp>
      <p:sp>
        <p:nvSpPr>
          <p:cNvPr id="3" name="Text 1"/>
          <p:cNvSpPr/>
          <p:nvPr/>
        </p:nvSpPr>
        <p:spPr>
          <a:xfrm>
            <a:off x="488379" y="1074241"/>
            <a:ext cx="8624441" cy="164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ko-KR" alt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1일차 Agent v0는 2일차 RAG Agent로 확장되며, Agent가 </a:t>
            </a:r>
            <a:pPr algn="l" indent="0" marL="0">
              <a:lnSpc>
                <a:spcPct val="113000"/>
              </a:lnSpc>
              <a:buNone/>
            </a:pPr>
            <a:r>
              <a:rPr lang="ko-KR" altLang="en-US" sz="950" dirty="0">
                <a:solidFill>
                  <a:srgbClr val="692D91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스스로 문서를 검색하여 근거를 찾아내는 능력</a:t>
            </a:r>
            <a:pPr algn="l" indent="0" marL="0">
              <a:lnSpc>
                <a:spcPct val="113000"/>
              </a:lnSpc>
              <a:buNone/>
            </a:pPr>
            <a:r>
              <a:rPr lang="ko-KR" alt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을 갖추게 됩니다.</a:t>
            </a:r>
            <a:endParaRPr lang="ko-KR" sz="950" dirty="0"/>
          </a:p>
        </p:txBody>
      </p:sp>
      <p:sp>
        <p:nvSpPr>
          <p:cNvPr id="4" name="Shape 2"/>
          <p:cNvSpPr/>
          <p:nvPr/>
        </p:nvSpPr>
        <p:spPr>
          <a:xfrm>
            <a:off x="488379" y="1333872"/>
            <a:ext cx="4041577" cy="1172096"/>
          </a:xfrm>
          <a:prstGeom prst="roundRect">
            <a:avLst>
              <a:gd name="adj" fmla="val 1563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667" y="1348160"/>
            <a:ext cx="4013002" cy="366266"/>
          </a:xfrm>
          <a:prstGeom prst="roundRect">
            <a:avLst>
              <a:gd name="adj" fmla="val 320"/>
            </a:avLst>
          </a:prstGeom>
          <a:solidFill>
            <a:srgbClr val="F2EEEE"/>
          </a:solidFill>
          <a:ln/>
        </p:spPr>
      </p:sp>
      <p:sp>
        <p:nvSpPr>
          <p:cNvPr id="6" name="Text 4"/>
          <p:cNvSpPr/>
          <p:nvPr/>
        </p:nvSpPr>
        <p:spPr>
          <a:xfrm>
            <a:off x="2417564" y="1416844"/>
            <a:ext cx="183133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24706" y="1798513"/>
            <a:ext cx="1526307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2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문서 처리</a:t>
            </a:r>
            <a:endParaRPr lang="ko-KR" sz="1200" dirty="0"/>
          </a:p>
        </p:txBody>
      </p:sp>
      <p:sp>
        <p:nvSpPr>
          <p:cNvPr id="8" name="Text 6"/>
          <p:cNvSpPr/>
          <p:nvPr/>
        </p:nvSpPr>
        <p:spPr>
          <a:xfrm>
            <a:off x="624706" y="2039689"/>
            <a:ext cx="3768923" cy="329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ko-KR" alt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Markdown 문서를 Python으로 읽고, 긴 문서를 작은 조각인 </a:t>
            </a:r>
            <a:pPr algn="l" indent="0" marL="0">
              <a:lnSpc>
                <a:spcPct val="113000"/>
              </a:lnSpc>
              <a:buNone/>
            </a:pPr>
            <a:r>
              <a:rPr lang="ko-KR" altLang="en-US" sz="9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Chunk</a:t>
            </a:r>
            <a:pPr algn="l" indent="0" marL="0">
              <a:lnSpc>
                <a:spcPct val="113000"/>
              </a:lnSpc>
              <a:buNone/>
            </a:pPr>
            <a:r>
              <a:rPr lang="ko-KR" alt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로 나눕니다.</a:t>
            </a:r>
            <a:endParaRPr lang="ko-KR" sz="950" dirty="0"/>
          </a:p>
        </p:txBody>
      </p:sp>
      <p:sp>
        <p:nvSpPr>
          <p:cNvPr id="9" name="Shape 7"/>
          <p:cNvSpPr/>
          <p:nvPr/>
        </p:nvSpPr>
        <p:spPr>
          <a:xfrm>
            <a:off x="4614044" y="1333872"/>
            <a:ext cx="4041577" cy="1172096"/>
          </a:xfrm>
          <a:prstGeom prst="roundRect">
            <a:avLst>
              <a:gd name="adj" fmla="val 1563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28331" y="1348160"/>
            <a:ext cx="4013002" cy="366266"/>
          </a:xfrm>
          <a:prstGeom prst="roundRect">
            <a:avLst>
              <a:gd name="adj" fmla="val 320"/>
            </a:avLst>
          </a:prstGeom>
          <a:solidFill>
            <a:srgbClr val="F2EEEE"/>
          </a:solidFill>
          <a:ln/>
        </p:spPr>
      </p:sp>
      <p:sp>
        <p:nvSpPr>
          <p:cNvPr id="11" name="Text 9"/>
          <p:cNvSpPr/>
          <p:nvPr/>
        </p:nvSpPr>
        <p:spPr>
          <a:xfrm>
            <a:off x="6543229" y="1416844"/>
            <a:ext cx="183133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50371" y="1798513"/>
            <a:ext cx="1526307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2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메타데이터 부착</a:t>
            </a:r>
            <a:endParaRPr lang="ko-KR" sz="1200" dirty="0"/>
          </a:p>
        </p:txBody>
      </p:sp>
      <p:sp>
        <p:nvSpPr>
          <p:cNvPr id="13" name="Text 11"/>
          <p:cNvSpPr/>
          <p:nvPr/>
        </p:nvSpPr>
        <p:spPr>
          <a:xfrm>
            <a:off x="4750371" y="2039689"/>
            <a:ext cx="3768923" cy="329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ko-KR" alt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각 Chunk에 </a:t>
            </a:r>
            <a:pPr algn="l" indent="0" marL="0">
              <a:lnSpc>
                <a:spcPct val="113000"/>
              </a:lnSpc>
              <a:buNone/>
            </a:pPr>
            <a:r>
              <a:rPr lang="ko-KR" altLang="en-US" sz="9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Metadata</a:t>
            </a:r>
            <a:pPr algn="l" indent="0" marL="0">
              <a:lnSpc>
                <a:spcPct val="113000"/>
              </a:lnSpc>
              <a:buNone/>
            </a:pPr>
            <a:r>
              <a:rPr lang="ko-KR" alt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(이름표)를 부착하여 정보 관리를 용이하게 합니다.</a:t>
            </a:r>
            <a:endParaRPr lang="ko-KR" sz="950" dirty="0"/>
          </a:p>
        </p:txBody>
      </p:sp>
      <p:sp>
        <p:nvSpPr>
          <p:cNvPr id="14" name="Shape 12"/>
          <p:cNvSpPr/>
          <p:nvPr/>
        </p:nvSpPr>
        <p:spPr>
          <a:xfrm>
            <a:off x="488379" y="2590056"/>
            <a:ext cx="4041577" cy="1007120"/>
          </a:xfrm>
          <a:prstGeom prst="roundRect">
            <a:avLst>
              <a:gd name="adj" fmla="val 1819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667" y="2604343"/>
            <a:ext cx="4013002" cy="366266"/>
          </a:xfrm>
          <a:prstGeom prst="roundRect">
            <a:avLst>
              <a:gd name="adj" fmla="val 320"/>
            </a:avLst>
          </a:prstGeom>
          <a:solidFill>
            <a:srgbClr val="F2EEEE"/>
          </a:solidFill>
          <a:ln/>
        </p:spPr>
      </p:sp>
      <p:sp>
        <p:nvSpPr>
          <p:cNvPr id="16" name="Text 14"/>
          <p:cNvSpPr/>
          <p:nvPr/>
        </p:nvSpPr>
        <p:spPr>
          <a:xfrm>
            <a:off x="2417564" y="2673028"/>
            <a:ext cx="183133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4706" y="3054697"/>
            <a:ext cx="1526307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2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문서 조각 검색</a:t>
            </a:r>
            <a:endParaRPr lang="ko-KR" sz="1200" dirty="0"/>
          </a:p>
        </p:txBody>
      </p:sp>
      <p:sp>
        <p:nvSpPr>
          <p:cNvPr id="18" name="Text 16"/>
          <p:cNvSpPr/>
          <p:nvPr/>
        </p:nvSpPr>
        <p:spPr>
          <a:xfrm>
            <a:off x="624706" y="3295873"/>
            <a:ext cx="3768923" cy="164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ko-KR" alt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질문과 관련 있는 </a:t>
            </a:r>
            <a:pPr algn="l" indent="0" marL="0">
              <a:lnSpc>
                <a:spcPct val="113000"/>
              </a:lnSpc>
              <a:buNone/>
            </a:pPr>
            <a:r>
              <a:rPr lang="ko-KR" altLang="en-US" sz="9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Top-3 문서 조각</a:t>
            </a:r>
            <a:pPr algn="l" indent="0" marL="0">
              <a:lnSpc>
                <a:spcPct val="113000"/>
              </a:lnSpc>
              <a:buNone/>
            </a:pPr>
            <a:r>
              <a:rPr lang="ko-KR" alt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을 효과적으로 찾아냅니다.</a:t>
            </a:r>
            <a:endParaRPr lang="ko-KR" sz="950" dirty="0"/>
          </a:p>
        </p:txBody>
      </p:sp>
      <p:sp>
        <p:nvSpPr>
          <p:cNvPr id="19" name="Shape 17"/>
          <p:cNvSpPr/>
          <p:nvPr/>
        </p:nvSpPr>
        <p:spPr>
          <a:xfrm>
            <a:off x="4614044" y="2590056"/>
            <a:ext cx="4041577" cy="1007120"/>
          </a:xfrm>
          <a:prstGeom prst="roundRect">
            <a:avLst>
              <a:gd name="adj" fmla="val 1819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28331" y="2604343"/>
            <a:ext cx="4013002" cy="366266"/>
          </a:xfrm>
          <a:prstGeom prst="roundRect">
            <a:avLst>
              <a:gd name="adj" fmla="val 320"/>
            </a:avLst>
          </a:prstGeom>
          <a:solidFill>
            <a:srgbClr val="F2EEEE"/>
          </a:solidFill>
          <a:ln/>
        </p:spPr>
      </p:sp>
      <p:sp>
        <p:nvSpPr>
          <p:cNvPr id="21" name="Text 19"/>
          <p:cNvSpPr/>
          <p:nvPr/>
        </p:nvSpPr>
        <p:spPr>
          <a:xfrm>
            <a:off x="6543229" y="2673028"/>
            <a:ext cx="183133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50371" y="3054697"/>
            <a:ext cx="1526307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ko-KR" altLang="en-US" sz="12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State 저장</a:t>
            </a:r>
            <a:endParaRPr lang="ko-KR" sz="1200" dirty="0"/>
          </a:p>
        </p:txBody>
      </p:sp>
      <p:sp>
        <p:nvSpPr>
          <p:cNvPr id="23" name="Text 21"/>
          <p:cNvSpPr/>
          <p:nvPr/>
        </p:nvSpPr>
        <p:spPr>
          <a:xfrm>
            <a:off x="4750371" y="3295873"/>
            <a:ext cx="3768923" cy="164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ko-KR" alt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검색 결과를 Agent의 작업 노트와 같은 </a:t>
            </a:r>
            <a:pPr algn="l" indent="0" marL="0">
              <a:lnSpc>
                <a:spcPct val="113000"/>
              </a:lnSpc>
              <a:buNone/>
            </a:pPr>
            <a:r>
              <a:rPr lang="ko-KR" altLang="en-US" sz="9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State</a:t>
            </a:r>
            <a:pPr algn="l" indent="0" marL="0">
              <a:lnSpc>
                <a:spcPct val="113000"/>
              </a:lnSpc>
              <a:buNone/>
            </a:pPr>
            <a:r>
              <a:rPr lang="ko-KR" alt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에 저장하여 활용합니다.</a:t>
            </a:r>
            <a:endParaRPr lang="ko-KR" sz="950" dirty="0"/>
          </a:p>
        </p:txBody>
      </p:sp>
      <p:sp>
        <p:nvSpPr>
          <p:cNvPr id="24" name="Shape 22"/>
          <p:cNvSpPr/>
          <p:nvPr/>
        </p:nvSpPr>
        <p:spPr>
          <a:xfrm>
            <a:off x="488379" y="3691830"/>
            <a:ext cx="8167241" cy="416272"/>
          </a:xfrm>
          <a:prstGeom prst="roundRect">
            <a:avLst>
              <a:gd name="adj" fmla="val 4400"/>
            </a:avLst>
          </a:prstGeom>
          <a:solidFill>
            <a:srgbClr val="D9D9D9"/>
          </a:solidFill>
          <a:ln/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0419" y="3861420"/>
            <a:ext cx="152623" cy="122039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885081" y="3806428"/>
            <a:ext cx="8105701" cy="164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ko-KR" altLang="en-US" sz="9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오늘은 사람이 직접 알람 매뉴얼 문장을 찾아 프롬프트에 넣었습니다. 그렇다면 내일은 Agent가 직접 문서를 검색해서 근거를 찾게 만들면 어떨까요?</a:t>
            </a:r>
            <a:endParaRPr lang="ko-KR" sz="950" dirty="0"/>
          </a:p>
        </p:txBody>
      </p:sp>
      <p:sp>
        <p:nvSpPr>
          <p:cNvPr id="27" name="Shape 24"/>
          <p:cNvSpPr/>
          <p:nvPr/>
        </p:nvSpPr>
        <p:spPr>
          <a:xfrm>
            <a:off x="488379" y="4202757"/>
            <a:ext cx="8167241" cy="416272"/>
          </a:xfrm>
          <a:prstGeom prst="roundRect">
            <a:avLst>
              <a:gd name="adj" fmla="val 4400"/>
            </a:avLst>
          </a:prstGeom>
          <a:solidFill>
            <a:srgbClr val="B6FCB8"/>
          </a:solidFill>
          <a:ln/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419" y="4372347"/>
            <a:ext cx="152623" cy="122039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885081" y="4317355"/>
            <a:ext cx="8105701" cy="164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ko-KR" altLang="en-US" sz="9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📌</a:t>
            </a:r>
            <a:pPr algn="l" indent="0" marL="0">
              <a:lnSpc>
                <a:spcPct val="113000"/>
              </a:lnSpc>
              <a:buNone/>
            </a:pPr>
            <a:r>
              <a:rPr lang="ko-KR" altLang="en-US" sz="9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핵심 정리: 2일차는 Agent가 </a:t>
            </a:r>
            <a:pPr algn="l" indent="0" marL="0">
              <a:lnSpc>
                <a:spcPct val="113000"/>
              </a:lnSpc>
              <a:buNone/>
            </a:pPr>
            <a:r>
              <a:rPr lang="ko-KR" altLang="en-US" sz="950" b="1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문서를 이해하고 활용하는 RAG 기능</a:t>
            </a:r>
            <a:pPr algn="l" indent="0" marL="0">
              <a:lnSpc>
                <a:spcPct val="113000"/>
              </a:lnSpc>
              <a:buNone/>
            </a:pPr>
            <a:r>
              <a:rPr lang="ko-KR" altLang="en-US" sz="9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을 학습하는 과정입니다.</a:t>
            </a:r>
            <a:endParaRPr lang="ko-KR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2026-05-27T03:34:12Z</dcterms:created>
  <dcterms:modified xsi:type="dcterms:W3CDTF">2026-05-27T03:34:12Z</dcterms:modified>
</cp:coreProperties>
</file>